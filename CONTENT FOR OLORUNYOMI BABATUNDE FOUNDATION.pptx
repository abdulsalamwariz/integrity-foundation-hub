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jpg" ContentType="image/png"/>
  <Override PartName="/ppt/media/image3.jpg" ContentType="image/png"/>
  <Override PartName="/ppt/media/image4.jpg" ContentType="image/pn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5" r:id="rId7"/>
    <p:sldId id="266" r:id="rId8"/>
    <p:sldId id="267" r:id="rId9"/>
    <p:sldId id="269" r:id="rId10"/>
    <p:sldId id="270" r:id="rId11"/>
    <p:sldId id="271" r:id="rId12"/>
    <p:sldId id="261" r:id="rId13"/>
    <p:sldId id="262" r:id="rId14"/>
    <p:sldId id="26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338A6-D4F9-4BAE-B296-3478564A3FD2}"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DE034-99B8-4231-AC18-FDFDBF20A31A}" type="slidenum">
              <a:rPr lang="en-US" smtClean="0"/>
              <a:t>‹#›</a:t>
            </a:fld>
            <a:endParaRPr lang="en-US"/>
          </a:p>
        </p:txBody>
      </p:sp>
    </p:spTree>
    <p:extLst>
      <p:ext uri="{BB962C8B-B14F-4D97-AF65-F5344CB8AC3E}">
        <p14:creationId xmlns:p14="http://schemas.microsoft.com/office/powerpoint/2010/main" val="1530912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64901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A08C10F-3BCE-4CE2-A976-2EE9834A1C39}"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1977476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08C10F-3BCE-4CE2-A976-2EE9834A1C39}"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3031361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08C10F-3BCE-4CE2-A976-2EE9834A1C39}"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1153943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08C10F-3BCE-4CE2-A976-2EE9834A1C39}"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1466518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08C10F-3BCE-4CE2-A976-2EE9834A1C39}"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1064016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08C10F-3BCE-4CE2-A976-2EE9834A1C39}"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3865338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08C10F-3BCE-4CE2-A976-2EE9834A1C39}"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1670794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08C10F-3BCE-4CE2-A976-2EE9834A1C39}"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35489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08C10F-3BCE-4CE2-A976-2EE9834A1C39}"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866200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08C10F-3BCE-4CE2-A976-2EE9834A1C39}"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62023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08C10F-3BCE-4CE2-A976-2EE9834A1C39}"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ACAB8D-1FC1-435B-BC1A-7797F42C999A}" type="slidenum">
              <a:rPr lang="en-US" smtClean="0"/>
              <a:t>‹#›</a:t>
            </a:fld>
            <a:endParaRPr lang="en-US"/>
          </a:p>
        </p:txBody>
      </p:sp>
    </p:spTree>
    <p:extLst>
      <p:ext uri="{BB962C8B-B14F-4D97-AF65-F5344CB8AC3E}">
        <p14:creationId xmlns:p14="http://schemas.microsoft.com/office/powerpoint/2010/main" val="555308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8C10F-3BCE-4CE2-A976-2EE9834A1C39}" type="datetimeFigureOut">
              <a:rPr lang="en-US" smtClean="0"/>
              <a:t>11/15/2025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ACAB8D-1FC1-435B-BC1A-7797F42C999A}" type="slidenum">
              <a:rPr lang="en-US" smtClean="0"/>
              <a:t>‹#›</a:t>
            </a:fld>
            <a:endParaRPr lang="en-US"/>
          </a:p>
        </p:txBody>
      </p:sp>
    </p:spTree>
    <p:extLst>
      <p:ext uri="{BB962C8B-B14F-4D97-AF65-F5344CB8AC3E}">
        <p14:creationId xmlns:p14="http://schemas.microsoft.com/office/powerpoint/2010/main" val="3528998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image" Target="../media/image2.jpg" /><Relationship Id="rId1" Type="http://schemas.openxmlformats.org/officeDocument/2006/relationships/slideLayout" Target="../slideLayouts/slideLayout2.xml" /><Relationship Id="rId4" Type="http://schemas.openxmlformats.org/officeDocument/2006/relationships/image" Target="../media/image4.jpg"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Relationship Id="rId2" Type="http://schemas.openxmlformats.org/officeDocument/2006/relationships/hyperlink" Target="mailto:info@obf.org" TargetMode="External"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7251" y="633743"/>
            <a:ext cx="9144000" cy="4934139"/>
          </a:xfrm>
        </p:spPr>
        <p:txBody>
          <a:bodyPr>
            <a:normAutofit fontScale="90000"/>
          </a:bodyPr>
          <a:lstStyle/>
          <a:p>
            <a:pPr>
              <a:lnSpc>
                <a:spcPct val="150000"/>
              </a:lnSpc>
            </a:pPr>
            <a:r>
              <a:rPr lang="en-US" sz="3100" b="1" dirty="0"/>
              <a:t>About Us</a:t>
            </a:r>
            <a:br>
              <a:rPr lang="en-US" sz="2000" b="1" dirty="0"/>
            </a:br>
            <a:r>
              <a:rPr lang="en-US" sz="2200" b="1" dirty="0" err="1"/>
              <a:t>Olorunyomi</a:t>
            </a:r>
            <a:r>
              <a:rPr lang="en-US" sz="2200" b="1" dirty="0"/>
              <a:t> Babatunde Foundation (OBF)</a:t>
            </a:r>
            <a:br>
              <a:rPr lang="en-US" sz="1600" dirty="0"/>
            </a:br>
            <a:r>
              <a:rPr lang="en-US" sz="1700" dirty="0"/>
              <a:t>The </a:t>
            </a:r>
            <a:r>
              <a:rPr lang="en-US" sz="1700" dirty="0" err="1"/>
              <a:t>Olorunyomi</a:t>
            </a:r>
            <a:r>
              <a:rPr lang="en-US" sz="1700" dirty="0"/>
              <a:t> Babatunde Foundation (OBF) is a non-profit organisation dedicated to promoting academic honesty and ethical leadership among adolescents and young people. We design and implement school outreach campaigns, community </a:t>
            </a:r>
            <a:r>
              <a:rPr lang="en-US" sz="1700" dirty="0" err="1"/>
              <a:t>sensitisation</a:t>
            </a:r>
            <a:r>
              <a:rPr lang="en-US" sz="1700" dirty="0"/>
              <a:t> programmes, and youth empowerment initiatives that reduce exam malpractice and open alternative, </a:t>
            </a:r>
            <a:r>
              <a:rPr lang="en-US" sz="1700" dirty="0" err="1"/>
              <a:t>honourable</a:t>
            </a:r>
            <a:r>
              <a:rPr lang="en-US" sz="1700" dirty="0"/>
              <a:t> pathways to success. OBF works with educators, parents, community and religious leaders to create lasting, systemic change in the culture of learning across communities.</a:t>
            </a:r>
            <a:br>
              <a:rPr lang="en-US" sz="1700" dirty="0"/>
            </a:br>
            <a:br>
              <a:rPr lang="en-US" sz="1700" dirty="0"/>
            </a:br>
            <a:r>
              <a:rPr lang="en-US" sz="2000" b="1" dirty="0"/>
              <a:t>Why we exist:</a:t>
            </a:r>
            <a:br>
              <a:rPr lang="en-US" sz="1400" dirty="0"/>
            </a:br>
            <a:r>
              <a:rPr lang="en-US" sz="1700" dirty="0"/>
              <a:t>Academic integrity is the bedrock of meaningful learning and social trust. When young people are supported to succeed through skill, perseverance and integrity, communities benefit from stronger leaders, entrepreneurs and citizens. OBF exists to shift mindsets, strengthen institutions, and support young people to thrive honestly.</a:t>
            </a:r>
            <a:br>
              <a:rPr lang="en-US" sz="1600" dirty="0"/>
            </a:br>
            <a:endParaRPr lang="en-US" sz="1600" dirty="0"/>
          </a:p>
        </p:txBody>
      </p:sp>
    </p:spTree>
    <p:extLst>
      <p:ext uri="{BB962C8B-B14F-4D97-AF65-F5344CB8AC3E}">
        <p14:creationId xmlns:p14="http://schemas.microsoft.com/office/powerpoint/2010/main" val="754105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7941" y="841972"/>
            <a:ext cx="11280618" cy="3367888"/>
          </a:xfrm>
        </p:spPr>
        <p:txBody>
          <a:bodyPr>
            <a:normAutofit fontScale="90000"/>
          </a:bodyPr>
          <a:lstStyle/>
          <a:p>
            <a:pPr>
              <a:lnSpc>
                <a:spcPct val="150000"/>
              </a:lnSpc>
            </a:pPr>
            <a:r>
              <a:rPr lang="en-US" sz="2700" b="1" dirty="0"/>
              <a:t>Our Goal</a:t>
            </a:r>
            <a:br>
              <a:rPr lang="en-US" sz="1600" b="1" dirty="0"/>
            </a:br>
            <a:br>
              <a:rPr lang="en-US" sz="1600" dirty="0"/>
            </a:br>
            <a:r>
              <a:rPr lang="en-US" sz="1700" dirty="0"/>
              <a:t>To end exam malpractice and foster a culture of integrity among Nigeria’s young people while providing them with the skills and support to pursue ethical success.</a:t>
            </a:r>
            <a:br>
              <a:rPr lang="en-US" sz="1700" dirty="0"/>
            </a:br>
            <a:br>
              <a:rPr lang="en-US" sz="1600" dirty="0"/>
            </a:br>
            <a:r>
              <a:rPr lang="en-US" sz="2700" b="1" dirty="0"/>
              <a:t>Three core aims </a:t>
            </a:r>
            <a:br>
              <a:rPr lang="en-US" sz="1800" dirty="0"/>
            </a:br>
            <a:r>
              <a:rPr lang="en-US" sz="1700" b="1" dirty="0"/>
              <a:t>Change Mindsets:</a:t>
            </a:r>
            <a:r>
              <a:rPr lang="en-US" sz="1700" dirty="0"/>
              <a:t> Sensitise schools and communities about the harms of exam malpractice and the value of academic honesty.</a:t>
            </a:r>
            <a:br>
              <a:rPr lang="en-US" sz="1700" dirty="0"/>
            </a:br>
            <a:r>
              <a:rPr lang="en-US" sz="1700" b="1" dirty="0"/>
              <a:t>Empower Youth:</a:t>
            </a:r>
            <a:r>
              <a:rPr lang="en-US" sz="1700" dirty="0"/>
              <a:t> Deliver life-skills, leadership, and entrepreneurship training so students can pursue legitimate paths to success.</a:t>
            </a:r>
            <a:br>
              <a:rPr lang="en-US" sz="1700" dirty="0"/>
            </a:br>
            <a:r>
              <a:rPr lang="en-US" sz="1700" b="1" dirty="0"/>
              <a:t>Influence Systems:</a:t>
            </a:r>
            <a:r>
              <a:rPr lang="en-US" sz="1700" dirty="0"/>
              <a:t> Work with educators, parents, and community leaders to strengthen policies and practices that support integrity in education.</a:t>
            </a:r>
          </a:p>
        </p:txBody>
      </p:sp>
    </p:spTree>
    <p:extLst>
      <p:ext uri="{BB962C8B-B14F-4D97-AF65-F5344CB8AC3E}">
        <p14:creationId xmlns:p14="http://schemas.microsoft.com/office/powerpoint/2010/main" val="3613612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0368" y="778599"/>
            <a:ext cx="10538233" cy="3702864"/>
          </a:xfrm>
        </p:spPr>
        <p:txBody>
          <a:bodyPr>
            <a:normAutofit fontScale="90000"/>
          </a:bodyPr>
          <a:lstStyle/>
          <a:p>
            <a:pPr>
              <a:lnSpc>
                <a:spcPct val="150000"/>
              </a:lnSpc>
            </a:pPr>
            <a:br>
              <a:rPr lang="en-US" sz="1800" b="1" dirty="0"/>
            </a:br>
            <a:br>
              <a:rPr lang="en-US" sz="1800" dirty="0"/>
            </a:br>
            <a:r>
              <a:rPr lang="en-US" sz="2700" b="1" dirty="0"/>
              <a:t>Vision:</a:t>
            </a:r>
            <a:br>
              <a:rPr lang="en-US" sz="1800" dirty="0"/>
            </a:br>
            <a:r>
              <a:rPr lang="en-US" sz="2000" dirty="0"/>
              <a:t>A future where every young person pursues education and success with integrity, skill and dignity.</a:t>
            </a:r>
            <a:br>
              <a:rPr lang="en-US" sz="2000" dirty="0"/>
            </a:br>
            <a:br>
              <a:rPr lang="en-US" sz="2000" dirty="0"/>
            </a:br>
            <a:r>
              <a:rPr lang="en-US" sz="2700" b="1" dirty="0"/>
              <a:t>Mission:</a:t>
            </a:r>
            <a:br>
              <a:rPr lang="en-US" sz="1800" dirty="0"/>
            </a:br>
            <a:r>
              <a:rPr lang="en-US" sz="2000" dirty="0"/>
              <a:t>We promote academic honesty and equip young people with life skills, ethical leadership training and practical alternatives to dishonest academic practices. Through school outreach, stakeholder engagement and targeted programmes, we change mindsets, strengthen institutions, and open real pathways to personal and community development.</a:t>
            </a:r>
          </a:p>
        </p:txBody>
      </p:sp>
    </p:spTree>
    <p:extLst>
      <p:ext uri="{BB962C8B-B14F-4D97-AF65-F5344CB8AC3E}">
        <p14:creationId xmlns:p14="http://schemas.microsoft.com/office/powerpoint/2010/main" val="3555282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9791" y="1620570"/>
            <a:ext cx="10538233" cy="3902043"/>
          </a:xfrm>
        </p:spPr>
        <p:txBody>
          <a:bodyPr>
            <a:normAutofit fontScale="90000"/>
          </a:bodyPr>
          <a:lstStyle/>
          <a:p>
            <a:pPr algn="l">
              <a:lnSpc>
                <a:spcPct val="150000"/>
              </a:lnSpc>
            </a:pPr>
            <a:br>
              <a:rPr lang="en-US" sz="2400" b="1" dirty="0"/>
            </a:br>
            <a:br>
              <a:rPr lang="en-US" sz="2400" b="1" dirty="0"/>
            </a:br>
            <a:r>
              <a:rPr lang="en-US" sz="2000" b="1" dirty="0"/>
              <a:t>1. Promote academic honesty and integrity</a:t>
            </a:r>
            <a:r>
              <a:rPr lang="en-US" sz="2000" dirty="0"/>
              <a:t>: Through sensitization campaigns, school outreach programmes and value-based education, we work to change mindsets and discourage exam malpractice among adolescents and young people.</a:t>
            </a:r>
            <a:br>
              <a:rPr lang="en-US" sz="2000" dirty="0"/>
            </a:br>
            <a:r>
              <a:rPr lang="en-US" sz="2000" dirty="0"/>
              <a:t>2. </a:t>
            </a:r>
            <a:r>
              <a:rPr lang="en-US" sz="2000" b="1" dirty="0"/>
              <a:t>Empower youth with skills and alternatives</a:t>
            </a:r>
            <a:r>
              <a:rPr lang="en-US" sz="2000" dirty="0"/>
              <a:t>: We deliver life skills, ethical leadership training, and entrepreneurship support that reduce reliance on dishonest academic shortcuts and encourage responsible citizenship.</a:t>
            </a:r>
            <a:br>
              <a:rPr lang="en-US" sz="2000" dirty="0"/>
            </a:br>
            <a:r>
              <a:rPr lang="en-US" sz="2000" dirty="0"/>
              <a:t>3. </a:t>
            </a:r>
            <a:r>
              <a:rPr lang="en-US" sz="2000" b="1" dirty="0"/>
              <a:t>Engage stakeholders for systemic reform</a:t>
            </a:r>
            <a:r>
              <a:rPr lang="en-US" sz="2000" dirty="0"/>
              <a:t>: We collaborate with educators, parents, religious and community leaders to strengthen ethical standards in educational institutions and support community-led integrity movements.</a:t>
            </a:r>
          </a:p>
        </p:txBody>
      </p:sp>
      <p:sp>
        <p:nvSpPr>
          <p:cNvPr id="3" name="TextBox 2"/>
          <p:cNvSpPr txBox="1"/>
          <p:nvPr/>
        </p:nvSpPr>
        <p:spPr>
          <a:xfrm>
            <a:off x="4535786" y="334978"/>
            <a:ext cx="3829616" cy="671851"/>
          </a:xfrm>
          <a:prstGeom prst="rect">
            <a:avLst/>
          </a:prstGeom>
          <a:noFill/>
        </p:spPr>
        <p:txBody>
          <a:bodyPr wrap="square" rtlCol="0">
            <a:spAutoFit/>
          </a:bodyPr>
          <a:lstStyle/>
          <a:p>
            <a:pPr>
              <a:lnSpc>
                <a:spcPct val="150000"/>
              </a:lnSpc>
            </a:pPr>
            <a:r>
              <a:rPr lang="en-US" sz="2800" b="1" dirty="0"/>
              <a:t>AIMS AND OBJECTIVES</a:t>
            </a:r>
          </a:p>
        </p:txBody>
      </p:sp>
    </p:spTree>
    <p:extLst>
      <p:ext uri="{BB962C8B-B14F-4D97-AF65-F5344CB8AC3E}">
        <p14:creationId xmlns:p14="http://schemas.microsoft.com/office/powerpoint/2010/main" val="508146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8358" y="337964"/>
            <a:ext cx="7264651" cy="983841"/>
          </a:xfrm>
        </p:spPr>
        <p:txBody>
          <a:bodyPr/>
          <a:lstStyle/>
          <a:p>
            <a:pPr marL="571500" indent="-571500" algn="ctr">
              <a:buFont typeface="Wingdings" panose="05000000000000000000" pitchFamily="2" charset="2"/>
              <a:buChar char="v"/>
            </a:pPr>
            <a:r>
              <a:rPr lang="en-US" b="1" dirty="0"/>
              <a:t>OUR BOARD OF TRUSTEES</a:t>
            </a:r>
          </a:p>
        </p:txBody>
      </p:sp>
      <p:sp>
        <p:nvSpPr>
          <p:cNvPr id="3" name="Content Placeholder 2"/>
          <p:cNvSpPr>
            <a:spLocks noGrp="1"/>
          </p:cNvSpPr>
          <p:nvPr>
            <p:ph idx="1"/>
          </p:nvPr>
        </p:nvSpPr>
        <p:spPr/>
        <p:txBody>
          <a:bodyPr>
            <a:normAutofit/>
          </a:bodyPr>
          <a:lstStyle/>
          <a:p>
            <a:pPr algn="just">
              <a:lnSpc>
                <a:spcPct val="150000"/>
              </a:lnSpc>
            </a:pPr>
            <a:r>
              <a:rPr lang="en-US" sz="1800" dirty="0"/>
              <a:t>The </a:t>
            </a:r>
            <a:r>
              <a:rPr lang="en-US" sz="1800" dirty="0" err="1"/>
              <a:t>Olorunyomi</a:t>
            </a:r>
            <a:r>
              <a:rPr lang="en-US" sz="1800" dirty="0"/>
              <a:t> Babatunde Foundation is guided by a diverse Board of Trustees that brings together experience in education, law, community engagement and youth development. The Board provides strategic oversight, ensures accountability, and steers the Foundation toward impactful programmes and sustainable growth.</a:t>
            </a:r>
          </a:p>
          <a:p>
            <a:pPr>
              <a:lnSpc>
                <a:spcPct val="150000"/>
              </a:lnSpc>
            </a:pPr>
            <a:r>
              <a:rPr lang="en-US" sz="1800" b="1" dirty="0"/>
              <a:t>Governance statement:</a:t>
            </a:r>
            <a:br>
              <a:rPr lang="en-US" sz="1800" dirty="0"/>
            </a:br>
            <a:r>
              <a:rPr lang="en-US" sz="1800" dirty="0"/>
              <a:t>The Board meets quarterly, approves the annual strategy and budget, and ensures the Foundation maintains high standards of governance and safeguarding.</a:t>
            </a:r>
          </a:p>
        </p:txBody>
      </p:sp>
    </p:spTree>
    <p:extLst>
      <p:ext uri="{BB962C8B-B14F-4D97-AF65-F5344CB8AC3E}">
        <p14:creationId xmlns:p14="http://schemas.microsoft.com/office/powerpoint/2010/main" val="12442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4464" y="992707"/>
            <a:ext cx="5369459" cy="3905218"/>
          </a:xfrm>
        </p:spPr>
        <p:txBody>
          <a:bodyPr>
            <a:normAutofit fontScale="92500" lnSpcReduction="10000"/>
          </a:bodyPr>
          <a:lstStyle/>
          <a:p>
            <a:pPr algn="just">
              <a:lnSpc>
                <a:spcPct val="150000"/>
              </a:lnSpc>
            </a:pPr>
            <a:r>
              <a:rPr lang="en-US" sz="2000" dirty="0"/>
              <a:t>Professor </a:t>
            </a:r>
            <a:r>
              <a:rPr lang="en-US" sz="2000" dirty="0" err="1"/>
              <a:t>Oyelade</a:t>
            </a:r>
            <a:r>
              <a:rPr lang="en-US" sz="2000" dirty="0"/>
              <a:t> </a:t>
            </a:r>
            <a:r>
              <a:rPr lang="en-US" sz="2000" dirty="0" err="1"/>
              <a:t>Olutunji</a:t>
            </a:r>
            <a:r>
              <a:rPr lang="en-US" sz="2000" dirty="0"/>
              <a:t> Sunday is an accomplished entrepreneur and respected community leader with decades of experience in business development and </a:t>
            </a:r>
            <a:r>
              <a:rPr lang="en-US" sz="2000" dirty="0" err="1"/>
              <a:t>organisational</a:t>
            </a:r>
            <a:r>
              <a:rPr lang="en-US" sz="2000" dirty="0"/>
              <a:t> governance. His leadership brings stability, foresight, and strategic guidance to the Foundation. He plays a central role in steering OBF’s mission to promote academic integrity and youth empowerment across communities.</a:t>
            </a:r>
          </a:p>
        </p:txBody>
      </p:sp>
      <p:sp>
        <p:nvSpPr>
          <p:cNvPr id="4" name="TextBox 3"/>
          <p:cNvSpPr txBox="1"/>
          <p:nvPr/>
        </p:nvSpPr>
        <p:spPr>
          <a:xfrm>
            <a:off x="959668" y="5033727"/>
            <a:ext cx="3132499" cy="646331"/>
          </a:xfrm>
          <a:prstGeom prst="rect">
            <a:avLst/>
          </a:prstGeom>
          <a:noFill/>
        </p:spPr>
        <p:txBody>
          <a:bodyPr wrap="square" rtlCol="0">
            <a:spAutoFit/>
          </a:bodyPr>
          <a:lstStyle/>
          <a:p>
            <a:r>
              <a:rPr lang="en-US" dirty="0"/>
              <a:t>Professor </a:t>
            </a:r>
            <a:r>
              <a:rPr lang="en-US" dirty="0" err="1"/>
              <a:t>Oyelade</a:t>
            </a:r>
            <a:r>
              <a:rPr lang="en-US" dirty="0"/>
              <a:t> </a:t>
            </a:r>
            <a:r>
              <a:rPr lang="en-US" dirty="0" err="1"/>
              <a:t>Olutunji</a:t>
            </a:r>
            <a:endParaRPr lang="en-US" dirty="0"/>
          </a:p>
          <a:p>
            <a:r>
              <a:rPr lang="en-US" dirty="0"/>
              <a:t>Chairman, Board of Trustees</a:t>
            </a:r>
          </a:p>
        </p:txBody>
      </p:sp>
    </p:spTree>
    <p:extLst>
      <p:ext uri="{BB962C8B-B14F-4D97-AF65-F5344CB8AC3E}">
        <p14:creationId xmlns:p14="http://schemas.microsoft.com/office/powerpoint/2010/main" val="446787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4464" y="992707"/>
            <a:ext cx="5369459" cy="3905218"/>
          </a:xfrm>
        </p:spPr>
        <p:txBody>
          <a:bodyPr>
            <a:normAutofit/>
          </a:bodyPr>
          <a:lstStyle/>
          <a:p>
            <a:pPr algn="just">
              <a:lnSpc>
                <a:spcPct val="150000"/>
              </a:lnSpc>
            </a:pPr>
            <a:r>
              <a:rPr lang="en-US" sz="2000" dirty="0" err="1"/>
              <a:t>Olorunyomi</a:t>
            </a:r>
            <a:r>
              <a:rPr lang="en-US" sz="2000" dirty="0"/>
              <a:t> Emmanuel Babatunde is an entrepreneur and visionary whose passion for youth development and academic integrity inspired the establishment of OBF. With years of experience in community engagement and business leadership, he provides strategic support to the Foundation’s operations and long-term growth.</a:t>
            </a:r>
          </a:p>
        </p:txBody>
      </p:sp>
      <p:sp>
        <p:nvSpPr>
          <p:cNvPr id="4" name="TextBox 3"/>
          <p:cNvSpPr txBox="1"/>
          <p:nvPr/>
        </p:nvSpPr>
        <p:spPr>
          <a:xfrm>
            <a:off x="959668" y="5033727"/>
            <a:ext cx="3621385" cy="646331"/>
          </a:xfrm>
          <a:prstGeom prst="rect">
            <a:avLst/>
          </a:prstGeom>
          <a:noFill/>
        </p:spPr>
        <p:txBody>
          <a:bodyPr wrap="square" rtlCol="0">
            <a:spAutoFit/>
          </a:bodyPr>
          <a:lstStyle/>
          <a:p>
            <a:r>
              <a:rPr lang="en-US" dirty="0" err="1"/>
              <a:t>Olorunyomi</a:t>
            </a:r>
            <a:r>
              <a:rPr lang="en-US" dirty="0"/>
              <a:t> Emmanuel Babatunde</a:t>
            </a:r>
          </a:p>
          <a:p>
            <a:r>
              <a:rPr lang="en-US" dirty="0"/>
              <a:t>Trustee</a:t>
            </a:r>
          </a:p>
        </p:txBody>
      </p:sp>
    </p:spTree>
    <p:extLst>
      <p:ext uri="{BB962C8B-B14F-4D97-AF65-F5344CB8AC3E}">
        <p14:creationId xmlns:p14="http://schemas.microsoft.com/office/powerpoint/2010/main" val="4282499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4464" y="992707"/>
            <a:ext cx="5369459" cy="3905218"/>
          </a:xfrm>
        </p:spPr>
        <p:txBody>
          <a:bodyPr>
            <a:normAutofit/>
          </a:bodyPr>
          <a:lstStyle/>
          <a:p>
            <a:pPr algn="just">
              <a:lnSpc>
                <a:spcPct val="150000"/>
              </a:lnSpc>
            </a:pPr>
            <a:r>
              <a:rPr lang="en-US" sz="2000" dirty="0"/>
              <a:t>Ifeoluwa Babatunde is a seasoned accountant with vast experience in financial management and internal controls. She oversees the Foundation’s treasury, ensuring transparency, accountability, and compliance with non-profit financial standards. Her expertise strengthens OBF’s financial governance systems.</a:t>
            </a:r>
          </a:p>
        </p:txBody>
      </p:sp>
      <p:sp>
        <p:nvSpPr>
          <p:cNvPr id="4" name="TextBox 3"/>
          <p:cNvSpPr txBox="1"/>
          <p:nvPr/>
        </p:nvSpPr>
        <p:spPr>
          <a:xfrm>
            <a:off x="1213166" y="5930018"/>
            <a:ext cx="3621385" cy="707886"/>
          </a:xfrm>
          <a:prstGeom prst="rect">
            <a:avLst/>
          </a:prstGeom>
          <a:noFill/>
        </p:spPr>
        <p:txBody>
          <a:bodyPr wrap="square" rtlCol="0">
            <a:spAutoFit/>
          </a:bodyPr>
          <a:lstStyle/>
          <a:p>
            <a:pPr marL="342900" indent="-342900">
              <a:buFont typeface="Wingdings" panose="05000000000000000000" pitchFamily="2" charset="2"/>
              <a:buChar char="q"/>
            </a:pPr>
            <a:r>
              <a:rPr lang="en-US" sz="2000" b="1" dirty="0"/>
              <a:t>Ifeoluwa Olaitan Babatunde</a:t>
            </a:r>
          </a:p>
          <a:p>
            <a:pPr marL="342900" indent="-342900">
              <a:buFont typeface="Wingdings" panose="05000000000000000000" pitchFamily="2" charset="2"/>
              <a:buChar char="q"/>
            </a:pPr>
            <a:r>
              <a:rPr lang="en-US" sz="2000" b="1" i="1" dirty="0"/>
              <a:t>Treasurer and Trustee</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634" y="325656"/>
            <a:ext cx="4732447" cy="5414240"/>
          </a:xfrm>
          <a:prstGeom prst="rect">
            <a:avLst/>
          </a:prstGeom>
        </p:spPr>
      </p:pic>
    </p:spTree>
    <p:extLst>
      <p:ext uri="{BB962C8B-B14F-4D97-AF65-F5344CB8AC3E}">
        <p14:creationId xmlns:p14="http://schemas.microsoft.com/office/powerpoint/2010/main" val="3799746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4464" y="992707"/>
            <a:ext cx="5369459" cy="3905218"/>
          </a:xfrm>
        </p:spPr>
        <p:txBody>
          <a:bodyPr>
            <a:normAutofit/>
          </a:bodyPr>
          <a:lstStyle/>
          <a:p>
            <a:pPr algn="just">
              <a:lnSpc>
                <a:spcPct val="150000"/>
              </a:lnSpc>
            </a:pPr>
            <a:r>
              <a:rPr lang="en-US" sz="2000" dirty="0"/>
              <a:t>Sikiru Akinyeye Ahmed is a lecturer and education professional with a strong commitment to youth development and ethical learning environments. His academic background and passion for reforming education systems enhance the Foundation’s ability to design impactful school-based programmes.</a:t>
            </a:r>
          </a:p>
        </p:txBody>
      </p:sp>
      <p:sp>
        <p:nvSpPr>
          <p:cNvPr id="4" name="TextBox 3"/>
          <p:cNvSpPr txBox="1"/>
          <p:nvPr/>
        </p:nvSpPr>
        <p:spPr>
          <a:xfrm>
            <a:off x="959668" y="5033727"/>
            <a:ext cx="3621385" cy="646331"/>
          </a:xfrm>
          <a:prstGeom prst="rect">
            <a:avLst/>
          </a:prstGeom>
          <a:noFill/>
        </p:spPr>
        <p:txBody>
          <a:bodyPr wrap="square" rtlCol="0">
            <a:spAutoFit/>
          </a:bodyPr>
          <a:lstStyle/>
          <a:p>
            <a:r>
              <a:rPr lang="en-US" dirty="0"/>
              <a:t>Sikiru Akinyeye Ahmed</a:t>
            </a:r>
          </a:p>
          <a:p>
            <a:r>
              <a:rPr lang="en-US" dirty="0"/>
              <a:t>Trustee</a:t>
            </a:r>
          </a:p>
        </p:txBody>
      </p:sp>
    </p:spTree>
    <p:extLst>
      <p:ext uri="{BB962C8B-B14F-4D97-AF65-F5344CB8AC3E}">
        <p14:creationId xmlns:p14="http://schemas.microsoft.com/office/powerpoint/2010/main" val="3574993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4464" y="992707"/>
            <a:ext cx="5369459" cy="3905218"/>
          </a:xfrm>
        </p:spPr>
        <p:txBody>
          <a:bodyPr>
            <a:normAutofit/>
          </a:bodyPr>
          <a:lstStyle/>
          <a:p>
            <a:pPr algn="just">
              <a:lnSpc>
                <a:spcPct val="150000"/>
              </a:lnSpc>
            </a:pPr>
            <a:r>
              <a:rPr lang="en-US" sz="2000" dirty="0" err="1"/>
              <a:t>Oyinkansola</a:t>
            </a:r>
            <a:r>
              <a:rPr lang="en-US" sz="2000" dirty="0"/>
              <a:t> </a:t>
            </a:r>
            <a:r>
              <a:rPr lang="en-US" sz="2000" dirty="0" err="1"/>
              <a:t>Funwape</a:t>
            </a:r>
            <a:r>
              <a:rPr lang="en-US" sz="2000" dirty="0"/>
              <a:t> is an entrepreneur with a strong background in business operations and community development. She brings innovative thinking and </a:t>
            </a:r>
            <a:r>
              <a:rPr lang="en-US" sz="2000" dirty="0" err="1"/>
              <a:t>organisational</a:t>
            </a:r>
            <a:r>
              <a:rPr lang="en-US" sz="2000" dirty="0"/>
              <a:t> skills to OBF’s governance structures and project planning processes.</a:t>
            </a:r>
          </a:p>
        </p:txBody>
      </p:sp>
      <p:sp>
        <p:nvSpPr>
          <p:cNvPr id="4" name="TextBox 3"/>
          <p:cNvSpPr txBox="1"/>
          <p:nvPr/>
        </p:nvSpPr>
        <p:spPr>
          <a:xfrm>
            <a:off x="959668" y="5033727"/>
            <a:ext cx="3621385" cy="646331"/>
          </a:xfrm>
          <a:prstGeom prst="rect">
            <a:avLst/>
          </a:prstGeom>
          <a:noFill/>
        </p:spPr>
        <p:txBody>
          <a:bodyPr wrap="square" rtlCol="0">
            <a:spAutoFit/>
          </a:bodyPr>
          <a:lstStyle/>
          <a:p>
            <a:r>
              <a:rPr lang="en-US" dirty="0" err="1"/>
              <a:t>Funwape</a:t>
            </a:r>
            <a:r>
              <a:rPr lang="en-US" dirty="0"/>
              <a:t> </a:t>
            </a:r>
            <a:r>
              <a:rPr lang="en-US" dirty="0" err="1"/>
              <a:t>Oyinkansola</a:t>
            </a:r>
            <a:r>
              <a:rPr lang="en-US" dirty="0"/>
              <a:t> </a:t>
            </a:r>
            <a:r>
              <a:rPr lang="en-US" dirty="0" err="1"/>
              <a:t>Motunrayo</a:t>
            </a:r>
            <a:endParaRPr lang="en-US" dirty="0"/>
          </a:p>
          <a:p>
            <a:r>
              <a:rPr lang="en-US" dirty="0"/>
              <a:t>Trustee</a:t>
            </a:r>
          </a:p>
        </p:txBody>
      </p:sp>
    </p:spTree>
    <p:extLst>
      <p:ext uri="{BB962C8B-B14F-4D97-AF65-F5344CB8AC3E}">
        <p14:creationId xmlns:p14="http://schemas.microsoft.com/office/powerpoint/2010/main" val="1166539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4464" y="992707"/>
            <a:ext cx="5369459" cy="3905218"/>
          </a:xfrm>
        </p:spPr>
        <p:txBody>
          <a:bodyPr>
            <a:normAutofit/>
          </a:bodyPr>
          <a:lstStyle/>
          <a:p>
            <a:pPr algn="just">
              <a:lnSpc>
                <a:spcPct val="150000"/>
              </a:lnSpc>
            </a:pPr>
            <a:r>
              <a:rPr lang="en-US" sz="2000" dirty="0"/>
              <a:t>Olalekan Samson Babatunde is an educator with experience in school administration and youth mentoring. As Secretary, he supports the Board by managing documentation, correspondence, and governance processes.</a:t>
            </a:r>
          </a:p>
        </p:txBody>
      </p:sp>
      <p:sp>
        <p:nvSpPr>
          <p:cNvPr id="4" name="TextBox 3"/>
          <p:cNvSpPr txBox="1"/>
          <p:nvPr/>
        </p:nvSpPr>
        <p:spPr>
          <a:xfrm>
            <a:off x="959668" y="5033727"/>
            <a:ext cx="3621385" cy="646331"/>
          </a:xfrm>
          <a:prstGeom prst="rect">
            <a:avLst/>
          </a:prstGeom>
          <a:noFill/>
        </p:spPr>
        <p:txBody>
          <a:bodyPr wrap="square" rtlCol="0">
            <a:spAutoFit/>
          </a:bodyPr>
          <a:lstStyle/>
          <a:p>
            <a:r>
              <a:rPr lang="en-US" dirty="0"/>
              <a:t>Olalekan Samson Babatunde</a:t>
            </a:r>
          </a:p>
          <a:p>
            <a:r>
              <a:rPr lang="en-US" dirty="0"/>
              <a:t>Secretary, Non-Trustee</a:t>
            </a:r>
          </a:p>
        </p:txBody>
      </p:sp>
    </p:spTree>
    <p:extLst>
      <p:ext uri="{BB962C8B-B14F-4D97-AF65-F5344CB8AC3E}">
        <p14:creationId xmlns:p14="http://schemas.microsoft.com/office/powerpoint/2010/main" val="3280670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897" y="319519"/>
            <a:ext cx="9587620" cy="868828"/>
          </a:xfrm>
        </p:spPr>
        <p:txBody>
          <a:bodyPr>
            <a:normAutofit/>
          </a:bodyPr>
          <a:lstStyle/>
          <a:p>
            <a:pPr marL="571500" indent="-571500" algn="ctr">
              <a:buFont typeface="Wingdings" panose="05000000000000000000" pitchFamily="2" charset="2"/>
              <a:buChar char="v"/>
            </a:pPr>
            <a:r>
              <a:rPr lang="en-US" sz="3600" b="1" dirty="0"/>
              <a:t>OUR SUSTAINABLE DEVELOPMENT GOALS (SDGs)</a:t>
            </a:r>
          </a:p>
        </p:txBody>
      </p:sp>
      <p:sp>
        <p:nvSpPr>
          <p:cNvPr id="3" name="Content Placeholder 2"/>
          <p:cNvSpPr>
            <a:spLocks noGrp="1"/>
          </p:cNvSpPr>
          <p:nvPr>
            <p:ph idx="1"/>
          </p:nvPr>
        </p:nvSpPr>
        <p:spPr>
          <a:xfrm>
            <a:off x="838200" y="1436326"/>
            <a:ext cx="10515600" cy="4050074"/>
          </a:xfrm>
        </p:spPr>
        <p:txBody>
          <a:bodyPr>
            <a:noAutofit/>
          </a:bodyPr>
          <a:lstStyle/>
          <a:p>
            <a:pPr>
              <a:lnSpc>
                <a:spcPct val="170000"/>
              </a:lnSpc>
            </a:pPr>
            <a:r>
              <a:rPr lang="en-US" sz="1400" dirty="0"/>
              <a:t>OBF aligns its programmes to the following SDGs to ensure measurable impact and global alignment:</a:t>
            </a:r>
          </a:p>
          <a:p>
            <a:pPr>
              <a:lnSpc>
                <a:spcPct val="170000"/>
              </a:lnSpc>
            </a:pPr>
            <a:r>
              <a:rPr lang="en-US" sz="1400" b="1" dirty="0"/>
              <a:t>SDG 4 — Quality Education</a:t>
            </a:r>
            <a:br>
              <a:rPr lang="en-US" sz="1400" dirty="0"/>
            </a:br>
            <a:r>
              <a:rPr lang="en-US" sz="1400" dirty="0"/>
              <a:t>We promote equitable, inclusive and quality education by addressing factors that undermine learning — including exam malpractice — and by supporting skills development.</a:t>
            </a:r>
          </a:p>
          <a:p>
            <a:pPr>
              <a:lnSpc>
                <a:spcPct val="170000"/>
              </a:lnSpc>
            </a:pPr>
            <a:r>
              <a:rPr lang="en-US" sz="1400" b="1" dirty="0"/>
              <a:t>SDG 3 — Good Health and Well-being</a:t>
            </a:r>
            <a:br>
              <a:rPr lang="en-US" sz="1400" dirty="0"/>
            </a:br>
            <a:r>
              <a:rPr lang="en-US" sz="1400" dirty="0"/>
              <a:t>Through value-based education and youth empowerment, we support mental well-being and the creation of healthier, more resilient communities.</a:t>
            </a:r>
          </a:p>
          <a:p>
            <a:pPr>
              <a:lnSpc>
                <a:spcPct val="170000"/>
              </a:lnSpc>
            </a:pPr>
            <a:r>
              <a:rPr lang="en-US" sz="1400" b="1" dirty="0"/>
              <a:t>SDG 1 — No Poverty</a:t>
            </a:r>
            <a:br>
              <a:rPr lang="en-US" sz="1400" dirty="0"/>
            </a:br>
            <a:r>
              <a:rPr lang="en-US" sz="1400" dirty="0"/>
              <a:t>By equipping young people with entrepreneurship skills and alternative pathways to success, we reduce the risk that poverty drives resort to dishonest practices.</a:t>
            </a:r>
          </a:p>
          <a:p>
            <a:pPr>
              <a:lnSpc>
                <a:spcPct val="170000"/>
              </a:lnSpc>
            </a:pPr>
            <a:endParaRPr lang="en-US" sz="1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031" y="5734380"/>
            <a:ext cx="974238" cy="97423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4588" y="5734380"/>
            <a:ext cx="974238" cy="97423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9342" y="5734380"/>
            <a:ext cx="969908" cy="974238"/>
          </a:xfrm>
          <a:prstGeom prst="rect">
            <a:avLst/>
          </a:prstGeom>
        </p:spPr>
      </p:pic>
    </p:spTree>
    <p:extLst>
      <p:ext uri="{BB962C8B-B14F-4D97-AF65-F5344CB8AC3E}">
        <p14:creationId xmlns:p14="http://schemas.microsoft.com/office/powerpoint/2010/main" val="2578491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9147" y="1608342"/>
            <a:ext cx="10515600" cy="4351338"/>
          </a:xfrm>
        </p:spPr>
        <p:txBody>
          <a:bodyPr>
            <a:normAutofit lnSpcReduction="10000"/>
          </a:bodyPr>
          <a:lstStyle/>
          <a:p>
            <a:pPr marL="0" indent="0">
              <a:lnSpc>
                <a:spcPct val="150000"/>
              </a:lnSpc>
              <a:buNone/>
            </a:pPr>
            <a:r>
              <a:rPr lang="en-US" dirty="0"/>
              <a:t>Support Our Work — Donate to OBF</a:t>
            </a:r>
          </a:p>
          <a:p>
            <a:pPr>
              <a:lnSpc>
                <a:spcPct val="150000"/>
              </a:lnSpc>
            </a:pPr>
            <a:r>
              <a:rPr lang="en-US" sz="1600" dirty="0"/>
              <a:t>Help us champion academic integrity and empower the next generation!</a:t>
            </a:r>
            <a:br>
              <a:rPr lang="en-US" sz="1600" dirty="0"/>
            </a:br>
            <a:r>
              <a:rPr lang="en-US" sz="1600" dirty="0"/>
              <a:t>Donations to OBF fund school outreach programmes, youth skills training, and community engagement activities that reduce exam malpractice and build pathways to honest success. Every donation helps change a life.</a:t>
            </a:r>
          </a:p>
          <a:p>
            <a:pPr>
              <a:lnSpc>
                <a:spcPct val="150000"/>
              </a:lnSpc>
            </a:pPr>
            <a:r>
              <a:rPr lang="en-US" sz="1600" b="1" dirty="0"/>
              <a:t>How your gift will be used:</a:t>
            </a:r>
            <a:endParaRPr lang="en-US" sz="1600" dirty="0"/>
          </a:p>
          <a:p>
            <a:pPr>
              <a:lnSpc>
                <a:spcPct val="150000"/>
              </a:lnSpc>
            </a:pPr>
            <a:r>
              <a:rPr lang="en-US" sz="1600" b="1" dirty="0"/>
              <a:t>School Outreach &amp; Sensitization (40%)</a:t>
            </a:r>
            <a:r>
              <a:rPr lang="en-US" sz="1600" dirty="0"/>
              <a:t> — Workshops, school visits and community campaigns.</a:t>
            </a:r>
          </a:p>
          <a:p>
            <a:pPr>
              <a:lnSpc>
                <a:spcPct val="150000"/>
              </a:lnSpc>
            </a:pPr>
            <a:r>
              <a:rPr lang="en-US" sz="1600" b="1" dirty="0"/>
              <a:t>Youth Empowerment &amp; Skills Training (35%)</a:t>
            </a:r>
            <a:r>
              <a:rPr lang="en-US" sz="1600" dirty="0"/>
              <a:t> — Life skills, leadership and entrepreneurship programmes.</a:t>
            </a:r>
          </a:p>
          <a:p>
            <a:pPr>
              <a:lnSpc>
                <a:spcPct val="150000"/>
              </a:lnSpc>
            </a:pPr>
            <a:r>
              <a:rPr lang="en-US" sz="1600" b="1" dirty="0"/>
              <a:t>Programme Administration &amp; Safeguarding (15%)</a:t>
            </a:r>
            <a:r>
              <a:rPr lang="en-US" sz="1600" dirty="0"/>
              <a:t> — Safe, transparent delivery and monitoring.</a:t>
            </a:r>
          </a:p>
          <a:p>
            <a:pPr>
              <a:lnSpc>
                <a:spcPct val="150000"/>
              </a:lnSpc>
            </a:pPr>
            <a:r>
              <a:rPr lang="en-US" sz="1600" b="1" dirty="0"/>
              <a:t>Monitoring, Evaluation &amp; Learning (10%)</a:t>
            </a:r>
            <a:r>
              <a:rPr lang="en-US" sz="1600" dirty="0"/>
              <a:t> — Tracking impact and improving programmes.</a:t>
            </a:r>
          </a:p>
          <a:p>
            <a:pPr>
              <a:lnSpc>
                <a:spcPct val="150000"/>
              </a:lnSpc>
            </a:pPr>
            <a:endParaRPr lang="en-US" dirty="0"/>
          </a:p>
        </p:txBody>
      </p:sp>
      <p:sp>
        <p:nvSpPr>
          <p:cNvPr id="4" name="TextBox 3"/>
          <p:cNvSpPr txBox="1"/>
          <p:nvPr/>
        </p:nvSpPr>
        <p:spPr>
          <a:xfrm>
            <a:off x="2236205" y="389299"/>
            <a:ext cx="8139065" cy="523220"/>
          </a:xfrm>
          <a:prstGeom prst="rect">
            <a:avLst/>
          </a:prstGeom>
          <a:noFill/>
        </p:spPr>
        <p:txBody>
          <a:bodyPr wrap="square" rtlCol="0">
            <a:spAutoFit/>
          </a:bodyPr>
          <a:lstStyle/>
          <a:p>
            <a:r>
              <a:rPr lang="en-US" sz="2800" b="1" dirty="0"/>
              <a:t>Donate (page content + </a:t>
            </a:r>
            <a:r>
              <a:rPr lang="en-US" sz="2800" b="1" dirty="0" err="1"/>
              <a:t>GoFundMe</a:t>
            </a:r>
            <a:r>
              <a:rPr lang="en-US" sz="2800" b="1" dirty="0"/>
              <a:t> integration copy)</a:t>
            </a:r>
          </a:p>
        </p:txBody>
      </p:sp>
    </p:spTree>
    <p:extLst>
      <p:ext uri="{BB962C8B-B14F-4D97-AF65-F5344CB8AC3E}">
        <p14:creationId xmlns:p14="http://schemas.microsoft.com/office/powerpoint/2010/main" val="1472842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Oval 95"/>
          <p:cNvSpPr/>
          <p:nvPr/>
        </p:nvSpPr>
        <p:spPr>
          <a:xfrm flipV="1">
            <a:off x="1286638" y="5951420"/>
            <a:ext cx="8956676" cy="773088"/>
          </a:xfrm>
          <a:prstGeom prst="ellipse">
            <a:avLst/>
          </a:prstGeom>
          <a:solidFill>
            <a:schemeClr val="tx1">
              <a:lumMod val="50000"/>
              <a:lumOff val="50000"/>
            </a:schemeClr>
          </a:solidFill>
          <a:ln w="25400" cap="flat" cmpd="sng" algn="ctr">
            <a:noFill/>
            <a:prstDash val="solid"/>
          </a:ln>
          <a:effectLst/>
        </p:spPr>
        <p:txBody>
          <a:bodyPr rtlCol="0" anchor="ct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ctr" defTabSz="914400">
              <a:defRPr/>
            </a:pPr>
            <a:endParaRPr lang="en-US" sz="1800" kern="0" dirty="0">
              <a:solidFill>
                <a:sysClr val="window" lastClr="FFFFFF"/>
              </a:solidFill>
            </a:endParaRPr>
          </a:p>
        </p:txBody>
      </p:sp>
      <p:sp>
        <p:nvSpPr>
          <p:cNvPr id="95" name="Oval 94"/>
          <p:cNvSpPr/>
          <p:nvPr/>
        </p:nvSpPr>
        <p:spPr>
          <a:xfrm flipV="1">
            <a:off x="6856512" y="5867212"/>
            <a:ext cx="1522029" cy="381375"/>
          </a:xfrm>
          <a:prstGeom prst="ellipse">
            <a:avLst/>
          </a:prstGeom>
          <a:gradFill flip="none" rotWithShape="1">
            <a:gsLst>
              <a:gs pos="0">
                <a:schemeClr val="tx1">
                  <a:lumMod val="50000"/>
                  <a:lumOff val="50000"/>
                </a:schemeClr>
              </a:gs>
              <a:gs pos="100000">
                <a:schemeClr val="tx1">
                  <a:lumMod val="50000"/>
                  <a:lumOff val="50000"/>
                  <a:alpha val="0"/>
                </a:schemeClr>
              </a:gs>
            </a:gsLst>
            <a:path path="shape">
              <a:fillToRect l="50000" t="50000" r="50000" b="50000"/>
            </a:path>
            <a:tileRect/>
          </a:gradFill>
          <a:ln w="25400" cap="flat" cmpd="sng" algn="ctr">
            <a:noFill/>
            <a:prstDash val="solid"/>
          </a:ln>
          <a:effectLst/>
        </p:spPr>
        <p:txBody>
          <a:bodyPr rtlCol="0" anchor="ct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ctr" defTabSz="914400">
              <a:defRPr/>
            </a:pPr>
            <a:endParaRPr lang="en-US" sz="1800" kern="0" dirty="0">
              <a:solidFill>
                <a:sysClr val="window" lastClr="FFFFFF"/>
              </a:solidFill>
            </a:endParaRPr>
          </a:p>
        </p:txBody>
      </p:sp>
      <p:sp>
        <p:nvSpPr>
          <p:cNvPr id="94" name="Oval 93"/>
          <p:cNvSpPr/>
          <p:nvPr/>
        </p:nvSpPr>
        <p:spPr>
          <a:xfrm flipV="1">
            <a:off x="1322110" y="5388814"/>
            <a:ext cx="6729284" cy="1131879"/>
          </a:xfrm>
          <a:prstGeom prst="ellipse">
            <a:avLst/>
          </a:prstGeom>
          <a:gradFill flip="none" rotWithShape="1">
            <a:gsLst>
              <a:gs pos="0">
                <a:schemeClr val="tx1">
                  <a:lumMod val="75000"/>
                  <a:lumOff val="25000"/>
                  <a:alpha val="80000"/>
                </a:schemeClr>
              </a:gs>
              <a:gs pos="100000">
                <a:schemeClr val="tx1">
                  <a:lumMod val="50000"/>
                  <a:lumOff val="50000"/>
                  <a:alpha val="0"/>
                </a:schemeClr>
              </a:gs>
            </a:gsLst>
            <a:path path="shape">
              <a:fillToRect l="50000" t="50000" r="50000" b="50000"/>
            </a:path>
            <a:tileRect/>
          </a:gradFill>
          <a:ln w="25400" cap="flat" cmpd="sng" algn="ctr">
            <a:noFill/>
            <a:prstDash val="solid"/>
          </a:ln>
          <a:effectLst/>
        </p:spPr>
        <p:txBody>
          <a:bodyPr rtlCol="0" anchor="ct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ctr" defTabSz="914400">
              <a:defRPr/>
            </a:pPr>
            <a:endParaRPr lang="en-US" sz="1800" kern="0" dirty="0">
              <a:solidFill>
                <a:sysClr val="window" lastClr="FFFFFF"/>
              </a:solidFill>
            </a:endParaRPr>
          </a:p>
        </p:txBody>
      </p:sp>
      <p:sp>
        <p:nvSpPr>
          <p:cNvPr id="2" name="Title 1"/>
          <p:cNvSpPr>
            <a:spLocks noGrp="1"/>
          </p:cNvSpPr>
          <p:nvPr>
            <p:ph type="title"/>
          </p:nvPr>
        </p:nvSpPr>
        <p:spPr>
          <a:xfrm>
            <a:off x="3765859" y="350494"/>
            <a:ext cx="3410262" cy="715961"/>
          </a:xfrm>
        </p:spPr>
        <p:txBody>
          <a:bodyPr>
            <a:normAutofit/>
          </a:bodyPr>
          <a:lstStyle/>
          <a:p>
            <a:pPr algn="ctr"/>
            <a:r>
              <a:rPr lang="en-US" sz="2800" b="1" dirty="0">
                <a:solidFill>
                  <a:schemeClr val="tx1"/>
                </a:solidFill>
                <a:latin typeface="+mn-lt"/>
                <a:ea typeface="ADLaM Display" panose="020F0502020204030204" pitchFamily="2" charset="0"/>
                <a:cs typeface="Poppins" panose="00000500000000000000" pitchFamily="2" charset="0"/>
              </a:rPr>
              <a:t>FAQs</a:t>
            </a:r>
          </a:p>
        </p:txBody>
      </p:sp>
      <p:grpSp>
        <p:nvGrpSpPr>
          <p:cNvPr id="3" name="Group 2">
            <a:extLst>
              <a:ext uri="{FF2B5EF4-FFF2-40B4-BE49-F238E27FC236}">
                <a16:creationId xmlns:a16="http://schemas.microsoft.com/office/drawing/2014/main" id="{E5EB57E7-4D4C-9F9A-660D-7A55AA1F260C}"/>
              </a:ext>
            </a:extLst>
          </p:cNvPr>
          <p:cNvGrpSpPr/>
          <p:nvPr/>
        </p:nvGrpSpPr>
        <p:grpSpPr>
          <a:xfrm>
            <a:off x="1172096" y="1330107"/>
            <a:ext cx="1776606" cy="2835299"/>
            <a:chOff x="1903412" y="1676400"/>
            <a:chExt cx="1776606" cy="2835299"/>
          </a:xfrm>
        </p:grpSpPr>
        <p:sp>
          <p:nvSpPr>
            <p:cNvPr id="4" name="Freeform 7">
              <a:extLst>
                <a:ext uri="{FF2B5EF4-FFF2-40B4-BE49-F238E27FC236}">
                  <a16:creationId xmlns:a16="http://schemas.microsoft.com/office/drawing/2014/main" id="{12EEA007-072E-A45D-2FCF-BCD4DC88E7DC}"/>
                </a:ext>
              </a:extLst>
            </p:cNvPr>
            <p:cNvSpPr>
              <a:spLocks/>
            </p:cNvSpPr>
            <p:nvPr/>
          </p:nvSpPr>
          <p:spPr bwMode="auto">
            <a:xfrm>
              <a:off x="2239650" y="1690031"/>
              <a:ext cx="1114733" cy="2809552"/>
            </a:xfrm>
            <a:custGeom>
              <a:avLst/>
              <a:gdLst/>
              <a:ahLst/>
              <a:cxnLst>
                <a:cxn ang="0">
                  <a:pos x="79" y="0"/>
                </a:cxn>
                <a:cxn ang="0">
                  <a:pos x="657" y="0"/>
                </a:cxn>
                <a:cxn ang="0">
                  <a:pos x="675" y="2"/>
                </a:cxn>
                <a:cxn ang="0">
                  <a:pos x="691" y="8"/>
                </a:cxn>
                <a:cxn ang="0">
                  <a:pos x="706" y="17"/>
                </a:cxn>
                <a:cxn ang="0">
                  <a:pos x="718" y="29"/>
                </a:cxn>
                <a:cxn ang="0">
                  <a:pos x="728" y="44"/>
                </a:cxn>
                <a:cxn ang="0">
                  <a:pos x="733" y="60"/>
                </a:cxn>
                <a:cxn ang="0">
                  <a:pos x="736" y="79"/>
                </a:cxn>
                <a:cxn ang="0">
                  <a:pos x="736" y="1776"/>
                </a:cxn>
                <a:cxn ang="0">
                  <a:pos x="733" y="1794"/>
                </a:cxn>
                <a:cxn ang="0">
                  <a:pos x="728" y="1811"/>
                </a:cxn>
                <a:cxn ang="0">
                  <a:pos x="718" y="1825"/>
                </a:cxn>
                <a:cxn ang="0">
                  <a:pos x="706" y="1838"/>
                </a:cxn>
                <a:cxn ang="0">
                  <a:pos x="691" y="1847"/>
                </a:cxn>
                <a:cxn ang="0">
                  <a:pos x="675" y="1853"/>
                </a:cxn>
                <a:cxn ang="0">
                  <a:pos x="657" y="1855"/>
                </a:cxn>
                <a:cxn ang="0">
                  <a:pos x="79" y="1855"/>
                </a:cxn>
                <a:cxn ang="0">
                  <a:pos x="61" y="1853"/>
                </a:cxn>
                <a:cxn ang="0">
                  <a:pos x="44" y="1847"/>
                </a:cxn>
                <a:cxn ang="0">
                  <a:pos x="30" y="1838"/>
                </a:cxn>
                <a:cxn ang="0">
                  <a:pos x="17" y="1825"/>
                </a:cxn>
                <a:cxn ang="0">
                  <a:pos x="8" y="1811"/>
                </a:cxn>
                <a:cxn ang="0">
                  <a:pos x="2" y="1794"/>
                </a:cxn>
                <a:cxn ang="0">
                  <a:pos x="0" y="1776"/>
                </a:cxn>
                <a:cxn ang="0">
                  <a:pos x="0" y="79"/>
                </a:cxn>
                <a:cxn ang="0">
                  <a:pos x="2" y="60"/>
                </a:cxn>
                <a:cxn ang="0">
                  <a:pos x="8" y="44"/>
                </a:cxn>
                <a:cxn ang="0">
                  <a:pos x="17" y="29"/>
                </a:cxn>
                <a:cxn ang="0">
                  <a:pos x="30" y="17"/>
                </a:cxn>
                <a:cxn ang="0">
                  <a:pos x="44" y="8"/>
                </a:cxn>
                <a:cxn ang="0">
                  <a:pos x="61" y="2"/>
                </a:cxn>
                <a:cxn ang="0">
                  <a:pos x="79" y="0"/>
                </a:cxn>
              </a:cxnLst>
              <a:rect l="0" t="0" r="r" b="b"/>
              <a:pathLst>
                <a:path w="736" h="1855">
                  <a:moveTo>
                    <a:pt x="79" y="0"/>
                  </a:moveTo>
                  <a:lnTo>
                    <a:pt x="657" y="0"/>
                  </a:lnTo>
                  <a:lnTo>
                    <a:pt x="675" y="2"/>
                  </a:lnTo>
                  <a:lnTo>
                    <a:pt x="691" y="8"/>
                  </a:lnTo>
                  <a:lnTo>
                    <a:pt x="706" y="17"/>
                  </a:lnTo>
                  <a:lnTo>
                    <a:pt x="718" y="29"/>
                  </a:lnTo>
                  <a:lnTo>
                    <a:pt x="728" y="44"/>
                  </a:lnTo>
                  <a:lnTo>
                    <a:pt x="733" y="60"/>
                  </a:lnTo>
                  <a:lnTo>
                    <a:pt x="736" y="79"/>
                  </a:lnTo>
                  <a:lnTo>
                    <a:pt x="736" y="1776"/>
                  </a:lnTo>
                  <a:lnTo>
                    <a:pt x="733" y="1794"/>
                  </a:lnTo>
                  <a:lnTo>
                    <a:pt x="728" y="1811"/>
                  </a:lnTo>
                  <a:lnTo>
                    <a:pt x="718" y="1825"/>
                  </a:lnTo>
                  <a:lnTo>
                    <a:pt x="706" y="1838"/>
                  </a:lnTo>
                  <a:lnTo>
                    <a:pt x="691" y="1847"/>
                  </a:lnTo>
                  <a:lnTo>
                    <a:pt x="675" y="1853"/>
                  </a:lnTo>
                  <a:lnTo>
                    <a:pt x="657" y="1855"/>
                  </a:lnTo>
                  <a:lnTo>
                    <a:pt x="79" y="1855"/>
                  </a:lnTo>
                  <a:lnTo>
                    <a:pt x="61" y="1853"/>
                  </a:lnTo>
                  <a:lnTo>
                    <a:pt x="44" y="1847"/>
                  </a:lnTo>
                  <a:lnTo>
                    <a:pt x="30" y="1838"/>
                  </a:lnTo>
                  <a:lnTo>
                    <a:pt x="17" y="1825"/>
                  </a:lnTo>
                  <a:lnTo>
                    <a:pt x="8" y="1811"/>
                  </a:lnTo>
                  <a:lnTo>
                    <a:pt x="2" y="1794"/>
                  </a:lnTo>
                  <a:lnTo>
                    <a:pt x="0" y="1776"/>
                  </a:lnTo>
                  <a:lnTo>
                    <a:pt x="0" y="79"/>
                  </a:lnTo>
                  <a:lnTo>
                    <a:pt x="2" y="60"/>
                  </a:lnTo>
                  <a:lnTo>
                    <a:pt x="8" y="44"/>
                  </a:lnTo>
                  <a:lnTo>
                    <a:pt x="17" y="29"/>
                  </a:lnTo>
                  <a:lnTo>
                    <a:pt x="30" y="17"/>
                  </a:lnTo>
                  <a:lnTo>
                    <a:pt x="44" y="8"/>
                  </a:lnTo>
                  <a:lnTo>
                    <a:pt x="61" y="2"/>
                  </a:lnTo>
                  <a:lnTo>
                    <a:pt x="79" y="0"/>
                  </a:lnTo>
                  <a:close/>
                </a:path>
              </a:pathLst>
            </a:custGeom>
            <a:gradFill flip="none" rotWithShape="1">
              <a:gsLst>
                <a:gs pos="0">
                  <a:schemeClr val="tx1">
                    <a:lumMod val="95000"/>
                    <a:lumOff val="5000"/>
                  </a:schemeClr>
                </a:gs>
                <a:gs pos="100000">
                  <a:schemeClr val="tx1">
                    <a:lumMod val="75000"/>
                    <a:lumOff val="25000"/>
                    <a:shade val="100000"/>
                    <a:satMod val="11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 name="Freeform 8">
              <a:extLst>
                <a:ext uri="{FF2B5EF4-FFF2-40B4-BE49-F238E27FC236}">
                  <a16:creationId xmlns:a16="http://schemas.microsoft.com/office/drawing/2014/main" id="{B5EABC89-4914-1199-51CC-4B97047699E1}"/>
                </a:ext>
              </a:extLst>
            </p:cNvPr>
            <p:cNvSpPr>
              <a:spLocks noEditPoints="1"/>
            </p:cNvSpPr>
            <p:nvPr/>
          </p:nvSpPr>
          <p:spPr bwMode="auto">
            <a:xfrm>
              <a:off x="2226018" y="1676400"/>
              <a:ext cx="1140482" cy="2835299"/>
            </a:xfrm>
            <a:custGeom>
              <a:avLst/>
              <a:gdLst/>
              <a:ahLst/>
              <a:cxnLst>
                <a:cxn ang="0">
                  <a:pos x="72" y="19"/>
                </a:cxn>
                <a:cxn ang="0">
                  <a:pos x="44" y="33"/>
                </a:cxn>
                <a:cxn ang="0">
                  <a:pos x="25" y="56"/>
                </a:cxn>
                <a:cxn ang="0">
                  <a:pos x="18" y="88"/>
                </a:cxn>
                <a:cxn ang="0">
                  <a:pos x="20" y="1801"/>
                </a:cxn>
                <a:cxn ang="0">
                  <a:pos x="33" y="1829"/>
                </a:cxn>
                <a:cxn ang="0">
                  <a:pos x="57" y="1848"/>
                </a:cxn>
                <a:cxn ang="0">
                  <a:pos x="88" y="1855"/>
                </a:cxn>
                <a:cxn ang="0">
                  <a:pos x="682" y="1853"/>
                </a:cxn>
                <a:cxn ang="0">
                  <a:pos x="709" y="1840"/>
                </a:cxn>
                <a:cxn ang="0">
                  <a:pos x="729" y="1816"/>
                </a:cxn>
                <a:cxn ang="0">
                  <a:pos x="735" y="1785"/>
                </a:cxn>
                <a:cxn ang="0">
                  <a:pos x="734" y="72"/>
                </a:cxn>
                <a:cxn ang="0">
                  <a:pos x="720" y="44"/>
                </a:cxn>
                <a:cxn ang="0">
                  <a:pos x="697" y="25"/>
                </a:cxn>
                <a:cxn ang="0">
                  <a:pos x="666" y="18"/>
                </a:cxn>
                <a:cxn ang="0">
                  <a:pos x="88" y="0"/>
                </a:cxn>
                <a:cxn ang="0">
                  <a:pos x="686" y="3"/>
                </a:cxn>
                <a:cxn ang="0">
                  <a:pos x="720" y="19"/>
                </a:cxn>
                <a:cxn ang="0">
                  <a:pos x="744" y="49"/>
                </a:cxn>
                <a:cxn ang="0">
                  <a:pos x="753" y="88"/>
                </a:cxn>
                <a:cxn ang="0">
                  <a:pos x="751" y="1805"/>
                </a:cxn>
                <a:cxn ang="0">
                  <a:pos x="734" y="1840"/>
                </a:cxn>
                <a:cxn ang="0">
                  <a:pos x="704" y="1863"/>
                </a:cxn>
                <a:cxn ang="0">
                  <a:pos x="666" y="1872"/>
                </a:cxn>
                <a:cxn ang="0">
                  <a:pos x="68" y="1870"/>
                </a:cxn>
                <a:cxn ang="0">
                  <a:pos x="33" y="1853"/>
                </a:cxn>
                <a:cxn ang="0">
                  <a:pos x="10" y="1824"/>
                </a:cxn>
                <a:cxn ang="0">
                  <a:pos x="0" y="1785"/>
                </a:cxn>
                <a:cxn ang="0">
                  <a:pos x="3" y="67"/>
                </a:cxn>
                <a:cxn ang="0">
                  <a:pos x="20" y="33"/>
                </a:cxn>
                <a:cxn ang="0">
                  <a:pos x="50" y="9"/>
                </a:cxn>
                <a:cxn ang="0">
                  <a:pos x="88" y="0"/>
                </a:cxn>
              </a:cxnLst>
              <a:rect l="0" t="0" r="r" b="b"/>
              <a:pathLst>
                <a:path w="753" h="1872">
                  <a:moveTo>
                    <a:pt x="88" y="18"/>
                  </a:moveTo>
                  <a:lnTo>
                    <a:pt x="72" y="19"/>
                  </a:lnTo>
                  <a:lnTo>
                    <a:pt x="57" y="25"/>
                  </a:lnTo>
                  <a:lnTo>
                    <a:pt x="44" y="33"/>
                  </a:lnTo>
                  <a:lnTo>
                    <a:pt x="33" y="44"/>
                  </a:lnTo>
                  <a:lnTo>
                    <a:pt x="25" y="56"/>
                  </a:lnTo>
                  <a:lnTo>
                    <a:pt x="20" y="72"/>
                  </a:lnTo>
                  <a:lnTo>
                    <a:pt x="18" y="88"/>
                  </a:lnTo>
                  <a:lnTo>
                    <a:pt x="18" y="1785"/>
                  </a:lnTo>
                  <a:lnTo>
                    <a:pt x="20" y="1801"/>
                  </a:lnTo>
                  <a:lnTo>
                    <a:pt x="25" y="1816"/>
                  </a:lnTo>
                  <a:lnTo>
                    <a:pt x="33" y="1829"/>
                  </a:lnTo>
                  <a:lnTo>
                    <a:pt x="44" y="1840"/>
                  </a:lnTo>
                  <a:lnTo>
                    <a:pt x="57" y="1848"/>
                  </a:lnTo>
                  <a:lnTo>
                    <a:pt x="72" y="1853"/>
                  </a:lnTo>
                  <a:lnTo>
                    <a:pt x="88" y="1855"/>
                  </a:lnTo>
                  <a:lnTo>
                    <a:pt x="666" y="1855"/>
                  </a:lnTo>
                  <a:lnTo>
                    <a:pt x="682" y="1853"/>
                  </a:lnTo>
                  <a:lnTo>
                    <a:pt x="697" y="1848"/>
                  </a:lnTo>
                  <a:lnTo>
                    <a:pt x="709" y="1840"/>
                  </a:lnTo>
                  <a:lnTo>
                    <a:pt x="720" y="1829"/>
                  </a:lnTo>
                  <a:lnTo>
                    <a:pt x="729" y="1816"/>
                  </a:lnTo>
                  <a:lnTo>
                    <a:pt x="734" y="1801"/>
                  </a:lnTo>
                  <a:lnTo>
                    <a:pt x="735" y="1785"/>
                  </a:lnTo>
                  <a:lnTo>
                    <a:pt x="735" y="88"/>
                  </a:lnTo>
                  <a:lnTo>
                    <a:pt x="734" y="72"/>
                  </a:lnTo>
                  <a:lnTo>
                    <a:pt x="729" y="56"/>
                  </a:lnTo>
                  <a:lnTo>
                    <a:pt x="720" y="44"/>
                  </a:lnTo>
                  <a:lnTo>
                    <a:pt x="709" y="33"/>
                  </a:lnTo>
                  <a:lnTo>
                    <a:pt x="697" y="25"/>
                  </a:lnTo>
                  <a:lnTo>
                    <a:pt x="682" y="19"/>
                  </a:lnTo>
                  <a:lnTo>
                    <a:pt x="666" y="18"/>
                  </a:lnTo>
                  <a:lnTo>
                    <a:pt x="88" y="18"/>
                  </a:lnTo>
                  <a:close/>
                  <a:moveTo>
                    <a:pt x="88" y="0"/>
                  </a:moveTo>
                  <a:lnTo>
                    <a:pt x="666" y="0"/>
                  </a:lnTo>
                  <a:lnTo>
                    <a:pt x="686" y="3"/>
                  </a:lnTo>
                  <a:lnTo>
                    <a:pt x="704" y="9"/>
                  </a:lnTo>
                  <a:lnTo>
                    <a:pt x="720" y="19"/>
                  </a:lnTo>
                  <a:lnTo>
                    <a:pt x="734" y="33"/>
                  </a:lnTo>
                  <a:lnTo>
                    <a:pt x="744" y="49"/>
                  </a:lnTo>
                  <a:lnTo>
                    <a:pt x="751" y="67"/>
                  </a:lnTo>
                  <a:lnTo>
                    <a:pt x="753" y="88"/>
                  </a:lnTo>
                  <a:lnTo>
                    <a:pt x="753" y="1785"/>
                  </a:lnTo>
                  <a:lnTo>
                    <a:pt x="751" y="1805"/>
                  </a:lnTo>
                  <a:lnTo>
                    <a:pt x="744" y="1824"/>
                  </a:lnTo>
                  <a:lnTo>
                    <a:pt x="734" y="1840"/>
                  </a:lnTo>
                  <a:lnTo>
                    <a:pt x="720" y="1853"/>
                  </a:lnTo>
                  <a:lnTo>
                    <a:pt x="704" y="1863"/>
                  </a:lnTo>
                  <a:lnTo>
                    <a:pt x="686" y="1870"/>
                  </a:lnTo>
                  <a:lnTo>
                    <a:pt x="666" y="1872"/>
                  </a:lnTo>
                  <a:lnTo>
                    <a:pt x="88" y="1872"/>
                  </a:lnTo>
                  <a:lnTo>
                    <a:pt x="68" y="1870"/>
                  </a:lnTo>
                  <a:lnTo>
                    <a:pt x="50" y="1863"/>
                  </a:lnTo>
                  <a:lnTo>
                    <a:pt x="33" y="1853"/>
                  </a:lnTo>
                  <a:lnTo>
                    <a:pt x="20" y="1840"/>
                  </a:lnTo>
                  <a:lnTo>
                    <a:pt x="10" y="1824"/>
                  </a:lnTo>
                  <a:lnTo>
                    <a:pt x="3" y="1805"/>
                  </a:lnTo>
                  <a:lnTo>
                    <a:pt x="0" y="1785"/>
                  </a:lnTo>
                  <a:lnTo>
                    <a:pt x="0" y="88"/>
                  </a:lnTo>
                  <a:lnTo>
                    <a:pt x="3" y="67"/>
                  </a:lnTo>
                  <a:lnTo>
                    <a:pt x="10" y="49"/>
                  </a:lnTo>
                  <a:lnTo>
                    <a:pt x="20" y="33"/>
                  </a:lnTo>
                  <a:lnTo>
                    <a:pt x="33" y="19"/>
                  </a:lnTo>
                  <a:lnTo>
                    <a:pt x="50" y="9"/>
                  </a:lnTo>
                  <a:lnTo>
                    <a:pt x="68" y="3"/>
                  </a:lnTo>
                  <a:lnTo>
                    <a:pt x="88" y="0"/>
                  </a:lnTo>
                  <a:close/>
                </a:path>
              </a:pathLst>
            </a:custGeom>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 name="Freeform 24">
              <a:extLst>
                <a:ext uri="{FF2B5EF4-FFF2-40B4-BE49-F238E27FC236}">
                  <a16:creationId xmlns:a16="http://schemas.microsoft.com/office/drawing/2014/main" id="{E8A630E7-4A08-4349-C2CA-82BB1F74F18E}"/>
                </a:ext>
              </a:extLst>
            </p:cNvPr>
            <p:cNvSpPr>
              <a:spLocks/>
            </p:cNvSpPr>
            <p:nvPr/>
          </p:nvSpPr>
          <p:spPr bwMode="auto">
            <a:xfrm>
              <a:off x="1903412" y="1853606"/>
              <a:ext cx="322607" cy="758806"/>
            </a:xfrm>
            <a:custGeom>
              <a:avLst/>
              <a:gdLst/>
              <a:ahLst/>
              <a:cxnLst>
                <a:cxn ang="0">
                  <a:pos x="0" y="0"/>
                </a:cxn>
                <a:cxn ang="0">
                  <a:pos x="213" y="0"/>
                </a:cxn>
                <a:cxn ang="0">
                  <a:pos x="213" y="501"/>
                </a:cxn>
                <a:cxn ang="0">
                  <a:pos x="163" y="501"/>
                </a:cxn>
                <a:cxn ang="0">
                  <a:pos x="163" y="250"/>
                </a:cxn>
                <a:cxn ang="0">
                  <a:pos x="0" y="0"/>
                </a:cxn>
              </a:cxnLst>
              <a:rect l="0" t="0" r="r" b="b"/>
              <a:pathLst>
                <a:path w="213" h="501">
                  <a:moveTo>
                    <a:pt x="0" y="0"/>
                  </a:moveTo>
                  <a:lnTo>
                    <a:pt x="213" y="0"/>
                  </a:lnTo>
                  <a:lnTo>
                    <a:pt x="213" y="501"/>
                  </a:lnTo>
                  <a:lnTo>
                    <a:pt x="163" y="501"/>
                  </a:lnTo>
                  <a:lnTo>
                    <a:pt x="163" y="250"/>
                  </a:lnTo>
                  <a:lnTo>
                    <a:pt x="0" y="0"/>
                  </a:lnTo>
                  <a:close/>
                </a:path>
              </a:pathLst>
            </a:custGeom>
            <a:gradFill flip="none" rotWithShape="1">
              <a:gsLst>
                <a:gs pos="0">
                  <a:schemeClr val="tx1">
                    <a:lumMod val="75000"/>
                    <a:lumOff val="25000"/>
                  </a:schemeClr>
                </a:gs>
                <a:gs pos="100000">
                  <a:schemeClr val="tx1">
                    <a:lumMod val="95000"/>
                    <a:lumOff val="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 name="Freeform 25">
              <a:extLst>
                <a:ext uri="{FF2B5EF4-FFF2-40B4-BE49-F238E27FC236}">
                  <a16:creationId xmlns:a16="http://schemas.microsoft.com/office/drawing/2014/main" id="{051FB6B6-89B0-8763-DFD7-6E2663920E5D}"/>
                </a:ext>
              </a:extLst>
            </p:cNvPr>
            <p:cNvSpPr>
              <a:spLocks/>
            </p:cNvSpPr>
            <p:nvPr/>
          </p:nvSpPr>
          <p:spPr bwMode="auto">
            <a:xfrm>
              <a:off x="1903412" y="2724491"/>
              <a:ext cx="322607" cy="758806"/>
            </a:xfrm>
            <a:custGeom>
              <a:avLst/>
              <a:gdLst/>
              <a:ahLst/>
              <a:cxnLst>
                <a:cxn ang="0">
                  <a:pos x="0" y="0"/>
                </a:cxn>
                <a:cxn ang="0">
                  <a:pos x="213" y="0"/>
                </a:cxn>
                <a:cxn ang="0">
                  <a:pos x="213" y="501"/>
                </a:cxn>
                <a:cxn ang="0">
                  <a:pos x="163" y="501"/>
                </a:cxn>
                <a:cxn ang="0">
                  <a:pos x="163" y="250"/>
                </a:cxn>
                <a:cxn ang="0">
                  <a:pos x="0" y="0"/>
                </a:cxn>
              </a:cxnLst>
              <a:rect l="0" t="0" r="r" b="b"/>
              <a:pathLst>
                <a:path w="213" h="501">
                  <a:moveTo>
                    <a:pt x="0" y="0"/>
                  </a:moveTo>
                  <a:lnTo>
                    <a:pt x="213" y="0"/>
                  </a:lnTo>
                  <a:lnTo>
                    <a:pt x="213" y="501"/>
                  </a:lnTo>
                  <a:lnTo>
                    <a:pt x="163" y="501"/>
                  </a:lnTo>
                  <a:lnTo>
                    <a:pt x="163" y="250"/>
                  </a:lnTo>
                  <a:lnTo>
                    <a:pt x="0" y="0"/>
                  </a:lnTo>
                  <a:close/>
                </a:path>
              </a:pathLst>
            </a:custGeom>
            <a:gradFill flip="none" rotWithShape="1">
              <a:gsLst>
                <a:gs pos="0">
                  <a:schemeClr val="tx1">
                    <a:lumMod val="75000"/>
                    <a:lumOff val="25000"/>
                  </a:schemeClr>
                </a:gs>
                <a:gs pos="100000">
                  <a:schemeClr val="tx1">
                    <a:lumMod val="95000"/>
                    <a:lumOff val="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0" name="Freeform 26">
              <a:extLst>
                <a:ext uri="{FF2B5EF4-FFF2-40B4-BE49-F238E27FC236}">
                  <a16:creationId xmlns:a16="http://schemas.microsoft.com/office/drawing/2014/main" id="{113D8B10-A611-AE93-F8A1-10AA55864A27}"/>
                </a:ext>
              </a:extLst>
            </p:cNvPr>
            <p:cNvSpPr>
              <a:spLocks/>
            </p:cNvSpPr>
            <p:nvPr/>
          </p:nvSpPr>
          <p:spPr bwMode="auto">
            <a:xfrm>
              <a:off x="1903412" y="3554483"/>
              <a:ext cx="322607" cy="757291"/>
            </a:xfrm>
            <a:custGeom>
              <a:avLst/>
              <a:gdLst/>
              <a:ahLst/>
              <a:cxnLst>
                <a:cxn ang="0">
                  <a:pos x="0" y="0"/>
                </a:cxn>
                <a:cxn ang="0">
                  <a:pos x="213" y="0"/>
                </a:cxn>
                <a:cxn ang="0">
                  <a:pos x="213" y="500"/>
                </a:cxn>
                <a:cxn ang="0">
                  <a:pos x="163" y="500"/>
                </a:cxn>
                <a:cxn ang="0">
                  <a:pos x="163" y="250"/>
                </a:cxn>
                <a:cxn ang="0">
                  <a:pos x="0" y="0"/>
                </a:cxn>
              </a:cxnLst>
              <a:rect l="0" t="0" r="r" b="b"/>
              <a:pathLst>
                <a:path w="213" h="500">
                  <a:moveTo>
                    <a:pt x="0" y="0"/>
                  </a:moveTo>
                  <a:lnTo>
                    <a:pt x="213" y="0"/>
                  </a:lnTo>
                  <a:lnTo>
                    <a:pt x="213" y="500"/>
                  </a:lnTo>
                  <a:lnTo>
                    <a:pt x="163" y="500"/>
                  </a:lnTo>
                  <a:lnTo>
                    <a:pt x="163" y="250"/>
                  </a:lnTo>
                  <a:lnTo>
                    <a:pt x="0" y="0"/>
                  </a:lnTo>
                  <a:close/>
                </a:path>
              </a:pathLst>
            </a:custGeom>
            <a:gradFill flip="none" rotWithShape="1">
              <a:gsLst>
                <a:gs pos="0">
                  <a:schemeClr val="tx1">
                    <a:lumMod val="75000"/>
                    <a:lumOff val="25000"/>
                  </a:schemeClr>
                </a:gs>
                <a:gs pos="100000">
                  <a:schemeClr val="tx1">
                    <a:lumMod val="95000"/>
                    <a:lumOff val="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3" name="Freeform 27">
              <a:extLst>
                <a:ext uri="{FF2B5EF4-FFF2-40B4-BE49-F238E27FC236}">
                  <a16:creationId xmlns:a16="http://schemas.microsoft.com/office/drawing/2014/main" id="{11562CB9-56A3-4FF8-66B5-EA990E4AD71A}"/>
                </a:ext>
              </a:extLst>
            </p:cNvPr>
            <p:cNvSpPr>
              <a:spLocks/>
            </p:cNvSpPr>
            <p:nvPr/>
          </p:nvSpPr>
          <p:spPr bwMode="auto">
            <a:xfrm>
              <a:off x="3358926" y="1853606"/>
              <a:ext cx="321092" cy="758806"/>
            </a:xfrm>
            <a:custGeom>
              <a:avLst/>
              <a:gdLst/>
              <a:ahLst/>
              <a:cxnLst>
                <a:cxn ang="0">
                  <a:pos x="0" y="0"/>
                </a:cxn>
                <a:cxn ang="0">
                  <a:pos x="212" y="0"/>
                </a:cxn>
                <a:cxn ang="0">
                  <a:pos x="50" y="250"/>
                </a:cxn>
                <a:cxn ang="0">
                  <a:pos x="50" y="501"/>
                </a:cxn>
                <a:cxn ang="0">
                  <a:pos x="0" y="501"/>
                </a:cxn>
                <a:cxn ang="0">
                  <a:pos x="0" y="0"/>
                </a:cxn>
              </a:cxnLst>
              <a:rect l="0" t="0" r="r" b="b"/>
              <a:pathLst>
                <a:path w="212" h="501">
                  <a:moveTo>
                    <a:pt x="0" y="0"/>
                  </a:moveTo>
                  <a:lnTo>
                    <a:pt x="212" y="0"/>
                  </a:lnTo>
                  <a:lnTo>
                    <a:pt x="50" y="250"/>
                  </a:lnTo>
                  <a:lnTo>
                    <a:pt x="50" y="501"/>
                  </a:lnTo>
                  <a:lnTo>
                    <a:pt x="0" y="501"/>
                  </a:lnTo>
                  <a:lnTo>
                    <a:pt x="0" y="0"/>
                  </a:lnTo>
                  <a:close/>
                </a:path>
              </a:pathLst>
            </a:custGeom>
            <a:gradFill flip="none" rotWithShape="1">
              <a:gsLst>
                <a:gs pos="0">
                  <a:schemeClr val="tx1">
                    <a:lumMod val="75000"/>
                    <a:lumOff val="25000"/>
                  </a:schemeClr>
                </a:gs>
                <a:gs pos="100000">
                  <a:schemeClr val="tx1">
                    <a:lumMod val="95000"/>
                    <a:lumOff val="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4" name="Freeform 28">
              <a:extLst>
                <a:ext uri="{FF2B5EF4-FFF2-40B4-BE49-F238E27FC236}">
                  <a16:creationId xmlns:a16="http://schemas.microsoft.com/office/drawing/2014/main" id="{CD696F7B-18B2-A597-0386-A512F6556768}"/>
                </a:ext>
              </a:extLst>
            </p:cNvPr>
            <p:cNvSpPr>
              <a:spLocks/>
            </p:cNvSpPr>
            <p:nvPr/>
          </p:nvSpPr>
          <p:spPr bwMode="auto">
            <a:xfrm>
              <a:off x="3358926" y="2724491"/>
              <a:ext cx="321092" cy="758806"/>
            </a:xfrm>
            <a:custGeom>
              <a:avLst/>
              <a:gdLst/>
              <a:ahLst/>
              <a:cxnLst>
                <a:cxn ang="0">
                  <a:pos x="0" y="0"/>
                </a:cxn>
                <a:cxn ang="0">
                  <a:pos x="212" y="0"/>
                </a:cxn>
                <a:cxn ang="0">
                  <a:pos x="50" y="250"/>
                </a:cxn>
                <a:cxn ang="0">
                  <a:pos x="50" y="501"/>
                </a:cxn>
                <a:cxn ang="0">
                  <a:pos x="0" y="501"/>
                </a:cxn>
                <a:cxn ang="0">
                  <a:pos x="0" y="0"/>
                </a:cxn>
              </a:cxnLst>
              <a:rect l="0" t="0" r="r" b="b"/>
              <a:pathLst>
                <a:path w="212" h="501">
                  <a:moveTo>
                    <a:pt x="0" y="0"/>
                  </a:moveTo>
                  <a:lnTo>
                    <a:pt x="212" y="0"/>
                  </a:lnTo>
                  <a:lnTo>
                    <a:pt x="50" y="250"/>
                  </a:lnTo>
                  <a:lnTo>
                    <a:pt x="50" y="501"/>
                  </a:lnTo>
                  <a:lnTo>
                    <a:pt x="0" y="501"/>
                  </a:lnTo>
                  <a:lnTo>
                    <a:pt x="0" y="0"/>
                  </a:lnTo>
                  <a:close/>
                </a:path>
              </a:pathLst>
            </a:custGeom>
            <a:gradFill flip="none" rotWithShape="1">
              <a:gsLst>
                <a:gs pos="0">
                  <a:schemeClr val="tx1">
                    <a:lumMod val="75000"/>
                    <a:lumOff val="25000"/>
                  </a:schemeClr>
                </a:gs>
                <a:gs pos="100000">
                  <a:schemeClr val="tx1">
                    <a:lumMod val="95000"/>
                    <a:lumOff val="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5" name="Freeform 29">
              <a:extLst>
                <a:ext uri="{FF2B5EF4-FFF2-40B4-BE49-F238E27FC236}">
                  <a16:creationId xmlns:a16="http://schemas.microsoft.com/office/drawing/2014/main" id="{C8B17FF0-89B6-774D-071A-20E19CE3B71E}"/>
                </a:ext>
              </a:extLst>
            </p:cNvPr>
            <p:cNvSpPr>
              <a:spLocks/>
            </p:cNvSpPr>
            <p:nvPr/>
          </p:nvSpPr>
          <p:spPr bwMode="auto">
            <a:xfrm>
              <a:off x="3358926" y="3554483"/>
              <a:ext cx="321092" cy="757291"/>
            </a:xfrm>
            <a:custGeom>
              <a:avLst/>
              <a:gdLst/>
              <a:ahLst/>
              <a:cxnLst>
                <a:cxn ang="0">
                  <a:pos x="0" y="0"/>
                </a:cxn>
                <a:cxn ang="0">
                  <a:pos x="212" y="0"/>
                </a:cxn>
                <a:cxn ang="0">
                  <a:pos x="50" y="250"/>
                </a:cxn>
                <a:cxn ang="0">
                  <a:pos x="50" y="500"/>
                </a:cxn>
                <a:cxn ang="0">
                  <a:pos x="0" y="500"/>
                </a:cxn>
                <a:cxn ang="0">
                  <a:pos x="0" y="0"/>
                </a:cxn>
              </a:cxnLst>
              <a:rect l="0" t="0" r="r" b="b"/>
              <a:pathLst>
                <a:path w="212" h="500">
                  <a:moveTo>
                    <a:pt x="0" y="0"/>
                  </a:moveTo>
                  <a:lnTo>
                    <a:pt x="212" y="0"/>
                  </a:lnTo>
                  <a:lnTo>
                    <a:pt x="50" y="250"/>
                  </a:lnTo>
                  <a:lnTo>
                    <a:pt x="50" y="500"/>
                  </a:lnTo>
                  <a:lnTo>
                    <a:pt x="0" y="500"/>
                  </a:lnTo>
                  <a:lnTo>
                    <a:pt x="0" y="0"/>
                  </a:lnTo>
                  <a:close/>
                </a:path>
              </a:pathLst>
            </a:custGeom>
            <a:gradFill flip="none" rotWithShape="1">
              <a:gsLst>
                <a:gs pos="0">
                  <a:schemeClr val="tx1">
                    <a:lumMod val="75000"/>
                    <a:lumOff val="25000"/>
                  </a:schemeClr>
                </a:gs>
                <a:gs pos="100000">
                  <a:schemeClr val="tx1">
                    <a:lumMod val="95000"/>
                    <a:lumOff val="5000"/>
                  </a:schemeClr>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nvGrpSpPr>
            <p:cNvPr id="56" name="Group 55">
              <a:extLst>
                <a:ext uri="{FF2B5EF4-FFF2-40B4-BE49-F238E27FC236}">
                  <a16:creationId xmlns:a16="http://schemas.microsoft.com/office/drawing/2014/main" id="{1FE57AEC-8365-C206-FC2C-1356C68D95F0}"/>
                </a:ext>
              </a:extLst>
            </p:cNvPr>
            <p:cNvGrpSpPr/>
            <p:nvPr/>
          </p:nvGrpSpPr>
          <p:grpSpPr>
            <a:xfrm>
              <a:off x="2442604" y="1894500"/>
              <a:ext cx="708825" cy="707311"/>
              <a:chOff x="5722938" y="1676401"/>
              <a:chExt cx="742950" cy="741363"/>
            </a:xfrm>
            <a:effectLst>
              <a:outerShdw blurRad="38100" dist="63500" dir="2700000" algn="tl" rotWithShape="0">
                <a:prstClr val="black">
                  <a:alpha val="99000"/>
                </a:prstClr>
              </a:outerShdw>
            </a:effectLst>
          </p:grpSpPr>
          <p:sp>
            <p:nvSpPr>
              <p:cNvPr id="105" name="Freeform 17">
                <a:extLst>
                  <a:ext uri="{FF2B5EF4-FFF2-40B4-BE49-F238E27FC236}">
                    <a16:creationId xmlns:a16="http://schemas.microsoft.com/office/drawing/2014/main" id="{6B25C9E5-70E8-B10B-B6E4-7D7C5F9D6601}"/>
                  </a:ext>
                </a:extLst>
              </p:cNvPr>
              <p:cNvSpPr>
                <a:spLocks/>
              </p:cNvSpPr>
              <p:nvPr/>
            </p:nvSpPr>
            <p:spPr bwMode="auto">
              <a:xfrm>
                <a:off x="5722938" y="1676401"/>
                <a:ext cx="742950" cy="741363"/>
              </a:xfrm>
              <a:custGeom>
                <a:avLst/>
                <a:gdLst/>
                <a:ahLst/>
                <a:cxnLst>
                  <a:cxn ang="0">
                    <a:pos x="234" y="0"/>
                  </a:cxn>
                  <a:cxn ang="0">
                    <a:pos x="266" y="2"/>
                  </a:cxn>
                  <a:cxn ang="0">
                    <a:pos x="296" y="8"/>
                  </a:cxn>
                  <a:cxn ang="0">
                    <a:pos x="325" y="18"/>
                  </a:cxn>
                  <a:cxn ang="0">
                    <a:pos x="352" y="32"/>
                  </a:cxn>
                  <a:cxn ang="0">
                    <a:pos x="377" y="48"/>
                  </a:cxn>
                  <a:cxn ang="0">
                    <a:pos x="400" y="68"/>
                  </a:cxn>
                  <a:cxn ang="0">
                    <a:pos x="420" y="90"/>
                  </a:cxn>
                  <a:cxn ang="0">
                    <a:pos x="436" y="115"/>
                  </a:cxn>
                  <a:cxn ang="0">
                    <a:pos x="450" y="142"/>
                  </a:cxn>
                  <a:cxn ang="0">
                    <a:pos x="460" y="171"/>
                  </a:cxn>
                  <a:cxn ang="0">
                    <a:pos x="466" y="201"/>
                  </a:cxn>
                  <a:cxn ang="0">
                    <a:pos x="468" y="233"/>
                  </a:cxn>
                  <a:cxn ang="0">
                    <a:pos x="466" y="265"/>
                  </a:cxn>
                  <a:cxn ang="0">
                    <a:pos x="460" y="295"/>
                  </a:cxn>
                  <a:cxn ang="0">
                    <a:pos x="450" y="324"/>
                  </a:cxn>
                  <a:cxn ang="0">
                    <a:pos x="436" y="351"/>
                  </a:cxn>
                  <a:cxn ang="0">
                    <a:pos x="420" y="376"/>
                  </a:cxn>
                  <a:cxn ang="0">
                    <a:pos x="400" y="399"/>
                  </a:cxn>
                  <a:cxn ang="0">
                    <a:pos x="377" y="418"/>
                  </a:cxn>
                  <a:cxn ang="0">
                    <a:pos x="352" y="435"/>
                  </a:cxn>
                  <a:cxn ang="0">
                    <a:pos x="325" y="449"/>
                  </a:cxn>
                  <a:cxn ang="0">
                    <a:pos x="296" y="459"/>
                  </a:cxn>
                  <a:cxn ang="0">
                    <a:pos x="266" y="465"/>
                  </a:cxn>
                  <a:cxn ang="0">
                    <a:pos x="234" y="467"/>
                  </a:cxn>
                  <a:cxn ang="0">
                    <a:pos x="202" y="465"/>
                  </a:cxn>
                  <a:cxn ang="0">
                    <a:pos x="171" y="459"/>
                  </a:cxn>
                  <a:cxn ang="0">
                    <a:pos x="142" y="449"/>
                  </a:cxn>
                  <a:cxn ang="0">
                    <a:pos x="116" y="435"/>
                  </a:cxn>
                  <a:cxn ang="0">
                    <a:pos x="91" y="418"/>
                  </a:cxn>
                  <a:cxn ang="0">
                    <a:pos x="68" y="399"/>
                  </a:cxn>
                  <a:cxn ang="0">
                    <a:pos x="49" y="376"/>
                  </a:cxn>
                  <a:cxn ang="0">
                    <a:pos x="32" y="351"/>
                  </a:cxn>
                  <a:cxn ang="0">
                    <a:pos x="18" y="324"/>
                  </a:cxn>
                  <a:cxn ang="0">
                    <a:pos x="8" y="295"/>
                  </a:cxn>
                  <a:cxn ang="0">
                    <a:pos x="2" y="265"/>
                  </a:cxn>
                  <a:cxn ang="0">
                    <a:pos x="0" y="233"/>
                  </a:cxn>
                  <a:cxn ang="0">
                    <a:pos x="2" y="201"/>
                  </a:cxn>
                  <a:cxn ang="0">
                    <a:pos x="8" y="171"/>
                  </a:cxn>
                  <a:cxn ang="0">
                    <a:pos x="18" y="142"/>
                  </a:cxn>
                  <a:cxn ang="0">
                    <a:pos x="32" y="115"/>
                  </a:cxn>
                  <a:cxn ang="0">
                    <a:pos x="49" y="90"/>
                  </a:cxn>
                  <a:cxn ang="0">
                    <a:pos x="68" y="68"/>
                  </a:cxn>
                  <a:cxn ang="0">
                    <a:pos x="91" y="48"/>
                  </a:cxn>
                  <a:cxn ang="0">
                    <a:pos x="116" y="32"/>
                  </a:cxn>
                  <a:cxn ang="0">
                    <a:pos x="142" y="18"/>
                  </a:cxn>
                  <a:cxn ang="0">
                    <a:pos x="171" y="8"/>
                  </a:cxn>
                  <a:cxn ang="0">
                    <a:pos x="202" y="2"/>
                  </a:cxn>
                  <a:cxn ang="0">
                    <a:pos x="234" y="0"/>
                  </a:cxn>
                </a:cxnLst>
                <a:rect l="0" t="0" r="r" b="b"/>
                <a:pathLst>
                  <a:path w="468" h="467">
                    <a:moveTo>
                      <a:pt x="234" y="0"/>
                    </a:moveTo>
                    <a:lnTo>
                      <a:pt x="266" y="2"/>
                    </a:lnTo>
                    <a:lnTo>
                      <a:pt x="296" y="8"/>
                    </a:lnTo>
                    <a:lnTo>
                      <a:pt x="325" y="18"/>
                    </a:lnTo>
                    <a:lnTo>
                      <a:pt x="352" y="32"/>
                    </a:lnTo>
                    <a:lnTo>
                      <a:pt x="377" y="48"/>
                    </a:lnTo>
                    <a:lnTo>
                      <a:pt x="400" y="68"/>
                    </a:lnTo>
                    <a:lnTo>
                      <a:pt x="420" y="90"/>
                    </a:lnTo>
                    <a:lnTo>
                      <a:pt x="436" y="115"/>
                    </a:lnTo>
                    <a:lnTo>
                      <a:pt x="450" y="142"/>
                    </a:lnTo>
                    <a:lnTo>
                      <a:pt x="460" y="171"/>
                    </a:lnTo>
                    <a:lnTo>
                      <a:pt x="466" y="201"/>
                    </a:lnTo>
                    <a:lnTo>
                      <a:pt x="468" y="233"/>
                    </a:lnTo>
                    <a:lnTo>
                      <a:pt x="466" y="265"/>
                    </a:lnTo>
                    <a:lnTo>
                      <a:pt x="460" y="295"/>
                    </a:lnTo>
                    <a:lnTo>
                      <a:pt x="450" y="324"/>
                    </a:lnTo>
                    <a:lnTo>
                      <a:pt x="436" y="351"/>
                    </a:lnTo>
                    <a:lnTo>
                      <a:pt x="420" y="376"/>
                    </a:lnTo>
                    <a:lnTo>
                      <a:pt x="400" y="399"/>
                    </a:lnTo>
                    <a:lnTo>
                      <a:pt x="377" y="418"/>
                    </a:lnTo>
                    <a:lnTo>
                      <a:pt x="352" y="435"/>
                    </a:lnTo>
                    <a:lnTo>
                      <a:pt x="325" y="449"/>
                    </a:lnTo>
                    <a:lnTo>
                      <a:pt x="296" y="459"/>
                    </a:lnTo>
                    <a:lnTo>
                      <a:pt x="266" y="465"/>
                    </a:lnTo>
                    <a:lnTo>
                      <a:pt x="234" y="467"/>
                    </a:lnTo>
                    <a:lnTo>
                      <a:pt x="202" y="465"/>
                    </a:lnTo>
                    <a:lnTo>
                      <a:pt x="171" y="459"/>
                    </a:lnTo>
                    <a:lnTo>
                      <a:pt x="142" y="449"/>
                    </a:lnTo>
                    <a:lnTo>
                      <a:pt x="116" y="435"/>
                    </a:lnTo>
                    <a:lnTo>
                      <a:pt x="91" y="418"/>
                    </a:lnTo>
                    <a:lnTo>
                      <a:pt x="68" y="399"/>
                    </a:lnTo>
                    <a:lnTo>
                      <a:pt x="49" y="376"/>
                    </a:lnTo>
                    <a:lnTo>
                      <a:pt x="32" y="351"/>
                    </a:lnTo>
                    <a:lnTo>
                      <a:pt x="18" y="324"/>
                    </a:lnTo>
                    <a:lnTo>
                      <a:pt x="8" y="295"/>
                    </a:lnTo>
                    <a:lnTo>
                      <a:pt x="2" y="265"/>
                    </a:lnTo>
                    <a:lnTo>
                      <a:pt x="0" y="233"/>
                    </a:lnTo>
                    <a:lnTo>
                      <a:pt x="2" y="201"/>
                    </a:lnTo>
                    <a:lnTo>
                      <a:pt x="8" y="171"/>
                    </a:lnTo>
                    <a:lnTo>
                      <a:pt x="18" y="142"/>
                    </a:lnTo>
                    <a:lnTo>
                      <a:pt x="32" y="115"/>
                    </a:lnTo>
                    <a:lnTo>
                      <a:pt x="49" y="90"/>
                    </a:lnTo>
                    <a:lnTo>
                      <a:pt x="68" y="68"/>
                    </a:lnTo>
                    <a:lnTo>
                      <a:pt x="91" y="48"/>
                    </a:lnTo>
                    <a:lnTo>
                      <a:pt x="116" y="32"/>
                    </a:lnTo>
                    <a:lnTo>
                      <a:pt x="142" y="18"/>
                    </a:lnTo>
                    <a:lnTo>
                      <a:pt x="171" y="8"/>
                    </a:lnTo>
                    <a:lnTo>
                      <a:pt x="202" y="2"/>
                    </a:lnTo>
                    <a:lnTo>
                      <a:pt x="234" y="0"/>
                    </a:lnTo>
                    <a:close/>
                  </a:path>
                </a:pathLst>
              </a:custGeom>
              <a:solidFill>
                <a:schemeClr val="tx1">
                  <a:lumMod val="75000"/>
                  <a:lumOff val="25000"/>
                </a:schemeClr>
              </a:solidFill>
              <a:ln w="0">
                <a:noFill/>
                <a:prstDash val="solid"/>
                <a:round/>
                <a:headEnd/>
                <a:tailEnd/>
              </a:ln>
              <a:effectLst>
                <a:innerShdw blurRad="368300">
                  <a:prstClr val="black"/>
                </a:innerShdw>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6" name="Freeform 18">
                <a:extLst>
                  <a:ext uri="{FF2B5EF4-FFF2-40B4-BE49-F238E27FC236}">
                    <a16:creationId xmlns:a16="http://schemas.microsoft.com/office/drawing/2014/main" id="{6D8031E5-CAFA-EFC5-8015-3A96C8EA9A13}"/>
                  </a:ext>
                </a:extLst>
              </p:cNvPr>
              <p:cNvSpPr>
                <a:spLocks/>
              </p:cNvSpPr>
              <p:nvPr/>
            </p:nvSpPr>
            <p:spPr bwMode="auto">
              <a:xfrm>
                <a:off x="5746750" y="2032001"/>
                <a:ext cx="695325" cy="360363"/>
              </a:xfrm>
              <a:custGeom>
                <a:avLst/>
                <a:gdLst/>
                <a:ahLst/>
                <a:cxnLst>
                  <a:cxn ang="0">
                    <a:pos x="0" y="0"/>
                  </a:cxn>
                  <a:cxn ang="0">
                    <a:pos x="4" y="31"/>
                  </a:cxn>
                  <a:cxn ang="0">
                    <a:pos x="12" y="61"/>
                  </a:cxn>
                  <a:cxn ang="0">
                    <a:pos x="23" y="89"/>
                  </a:cxn>
                  <a:cxn ang="0">
                    <a:pos x="38" y="115"/>
                  </a:cxn>
                  <a:cxn ang="0">
                    <a:pos x="56" y="138"/>
                  </a:cxn>
                  <a:cxn ang="0">
                    <a:pos x="78" y="159"/>
                  </a:cxn>
                  <a:cxn ang="0">
                    <a:pos x="102" y="176"/>
                  </a:cxn>
                  <a:cxn ang="0">
                    <a:pos x="128" y="190"/>
                  </a:cxn>
                  <a:cxn ang="0">
                    <a:pos x="157" y="200"/>
                  </a:cxn>
                  <a:cxn ang="0">
                    <a:pos x="187" y="207"/>
                  </a:cxn>
                  <a:cxn ang="0">
                    <a:pos x="219" y="209"/>
                  </a:cxn>
                  <a:cxn ang="0">
                    <a:pos x="250" y="207"/>
                  </a:cxn>
                  <a:cxn ang="0">
                    <a:pos x="280" y="200"/>
                  </a:cxn>
                  <a:cxn ang="0">
                    <a:pos x="309" y="190"/>
                  </a:cxn>
                  <a:cxn ang="0">
                    <a:pos x="335" y="176"/>
                  </a:cxn>
                  <a:cxn ang="0">
                    <a:pos x="360" y="159"/>
                  </a:cxn>
                  <a:cxn ang="0">
                    <a:pos x="381" y="138"/>
                  </a:cxn>
                  <a:cxn ang="0">
                    <a:pos x="399" y="115"/>
                  </a:cxn>
                  <a:cxn ang="0">
                    <a:pos x="414" y="89"/>
                  </a:cxn>
                  <a:cxn ang="0">
                    <a:pos x="426" y="61"/>
                  </a:cxn>
                  <a:cxn ang="0">
                    <a:pos x="433" y="31"/>
                  </a:cxn>
                  <a:cxn ang="0">
                    <a:pos x="437" y="0"/>
                  </a:cxn>
                  <a:cxn ang="0">
                    <a:pos x="437" y="3"/>
                  </a:cxn>
                  <a:cxn ang="0">
                    <a:pos x="438" y="6"/>
                  </a:cxn>
                  <a:cxn ang="0">
                    <a:pos x="438" y="8"/>
                  </a:cxn>
                  <a:cxn ang="0">
                    <a:pos x="436" y="41"/>
                  </a:cxn>
                  <a:cxn ang="0">
                    <a:pos x="429" y="71"/>
                  </a:cxn>
                  <a:cxn ang="0">
                    <a:pos x="417" y="100"/>
                  </a:cxn>
                  <a:cxn ang="0">
                    <a:pos x="403" y="127"/>
                  </a:cxn>
                  <a:cxn ang="0">
                    <a:pos x="384" y="152"/>
                  </a:cxn>
                  <a:cxn ang="0">
                    <a:pos x="363" y="173"/>
                  </a:cxn>
                  <a:cxn ang="0">
                    <a:pos x="338" y="192"/>
                  </a:cxn>
                  <a:cxn ang="0">
                    <a:pos x="311" y="206"/>
                  </a:cxn>
                  <a:cxn ang="0">
                    <a:pos x="282" y="218"/>
                  </a:cxn>
                  <a:cxn ang="0">
                    <a:pos x="251" y="225"/>
                  </a:cxn>
                  <a:cxn ang="0">
                    <a:pos x="219" y="227"/>
                  </a:cxn>
                  <a:cxn ang="0">
                    <a:pos x="186" y="225"/>
                  </a:cxn>
                  <a:cxn ang="0">
                    <a:pos x="155" y="218"/>
                  </a:cxn>
                  <a:cxn ang="0">
                    <a:pos x="127" y="206"/>
                  </a:cxn>
                  <a:cxn ang="0">
                    <a:pos x="100" y="192"/>
                  </a:cxn>
                  <a:cxn ang="0">
                    <a:pos x="76" y="173"/>
                  </a:cxn>
                  <a:cxn ang="0">
                    <a:pos x="53" y="152"/>
                  </a:cxn>
                  <a:cxn ang="0">
                    <a:pos x="35" y="127"/>
                  </a:cxn>
                  <a:cxn ang="0">
                    <a:pos x="21" y="100"/>
                  </a:cxn>
                  <a:cxn ang="0">
                    <a:pos x="9" y="71"/>
                  </a:cxn>
                  <a:cxn ang="0">
                    <a:pos x="2" y="41"/>
                  </a:cxn>
                  <a:cxn ang="0">
                    <a:pos x="0" y="8"/>
                  </a:cxn>
                  <a:cxn ang="0">
                    <a:pos x="0" y="0"/>
                  </a:cxn>
                </a:cxnLst>
                <a:rect l="0" t="0" r="r" b="b"/>
                <a:pathLst>
                  <a:path w="438" h="227">
                    <a:moveTo>
                      <a:pt x="0" y="0"/>
                    </a:moveTo>
                    <a:lnTo>
                      <a:pt x="4" y="31"/>
                    </a:lnTo>
                    <a:lnTo>
                      <a:pt x="12" y="61"/>
                    </a:lnTo>
                    <a:lnTo>
                      <a:pt x="23" y="89"/>
                    </a:lnTo>
                    <a:lnTo>
                      <a:pt x="38" y="115"/>
                    </a:lnTo>
                    <a:lnTo>
                      <a:pt x="56" y="138"/>
                    </a:lnTo>
                    <a:lnTo>
                      <a:pt x="78" y="159"/>
                    </a:lnTo>
                    <a:lnTo>
                      <a:pt x="102" y="176"/>
                    </a:lnTo>
                    <a:lnTo>
                      <a:pt x="128" y="190"/>
                    </a:lnTo>
                    <a:lnTo>
                      <a:pt x="157" y="200"/>
                    </a:lnTo>
                    <a:lnTo>
                      <a:pt x="187" y="207"/>
                    </a:lnTo>
                    <a:lnTo>
                      <a:pt x="219" y="209"/>
                    </a:lnTo>
                    <a:lnTo>
                      <a:pt x="250" y="207"/>
                    </a:lnTo>
                    <a:lnTo>
                      <a:pt x="280" y="200"/>
                    </a:lnTo>
                    <a:lnTo>
                      <a:pt x="309" y="190"/>
                    </a:lnTo>
                    <a:lnTo>
                      <a:pt x="335" y="176"/>
                    </a:lnTo>
                    <a:lnTo>
                      <a:pt x="360" y="159"/>
                    </a:lnTo>
                    <a:lnTo>
                      <a:pt x="381" y="138"/>
                    </a:lnTo>
                    <a:lnTo>
                      <a:pt x="399" y="115"/>
                    </a:lnTo>
                    <a:lnTo>
                      <a:pt x="414" y="89"/>
                    </a:lnTo>
                    <a:lnTo>
                      <a:pt x="426" y="61"/>
                    </a:lnTo>
                    <a:lnTo>
                      <a:pt x="433" y="31"/>
                    </a:lnTo>
                    <a:lnTo>
                      <a:pt x="437" y="0"/>
                    </a:lnTo>
                    <a:lnTo>
                      <a:pt x="437" y="3"/>
                    </a:lnTo>
                    <a:lnTo>
                      <a:pt x="438" y="6"/>
                    </a:lnTo>
                    <a:lnTo>
                      <a:pt x="438" y="8"/>
                    </a:lnTo>
                    <a:lnTo>
                      <a:pt x="436" y="41"/>
                    </a:lnTo>
                    <a:lnTo>
                      <a:pt x="429" y="71"/>
                    </a:lnTo>
                    <a:lnTo>
                      <a:pt x="417" y="100"/>
                    </a:lnTo>
                    <a:lnTo>
                      <a:pt x="403" y="127"/>
                    </a:lnTo>
                    <a:lnTo>
                      <a:pt x="384" y="152"/>
                    </a:lnTo>
                    <a:lnTo>
                      <a:pt x="363" y="173"/>
                    </a:lnTo>
                    <a:lnTo>
                      <a:pt x="338" y="192"/>
                    </a:lnTo>
                    <a:lnTo>
                      <a:pt x="311" y="206"/>
                    </a:lnTo>
                    <a:lnTo>
                      <a:pt x="282" y="218"/>
                    </a:lnTo>
                    <a:lnTo>
                      <a:pt x="251" y="225"/>
                    </a:lnTo>
                    <a:lnTo>
                      <a:pt x="219" y="227"/>
                    </a:lnTo>
                    <a:lnTo>
                      <a:pt x="186" y="225"/>
                    </a:lnTo>
                    <a:lnTo>
                      <a:pt x="155" y="218"/>
                    </a:lnTo>
                    <a:lnTo>
                      <a:pt x="127" y="206"/>
                    </a:lnTo>
                    <a:lnTo>
                      <a:pt x="100" y="192"/>
                    </a:lnTo>
                    <a:lnTo>
                      <a:pt x="76" y="173"/>
                    </a:lnTo>
                    <a:lnTo>
                      <a:pt x="53" y="152"/>
                    </a:lnTo>
                    <a:lnTo>
                      <a:pt x="35" y="127"/>
                    </a:lnTo>
                    <a:lnTo>
                      <a:pt x="21" y="100"/>
                    </a:lnTo>
                    <a:lnTo>
                      <a:pt x="9" y="71"/>
                    </a:lnTo>
                    <a:lnTo>
                      <a:pt x="2" y="41"/>
                    </a:lnTo>
                    <a:lnTo>
                      <a:pt x="0" y="8"/>
                    </a:lnTo>
                    <a:lnTo>
                      <a:pt x="0" y="0"/>
                    </a:lnTo>
                    <a:close/>
                  </a:path>
                </a:pathLst>
              </a:custGeom>
              <a:solidFill>
                <a:schemeClr val="bg1">
                  <a:alpha val="33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7" name="Oval 106">
                <a:extLst>
                  <a:ext uri="{FF2B5EF4-FFF2-40B4-BE49-F238E27FC236}">
                    <a16:creationId xmlns:a16="http://schemas.microsoft.com/office/drawing/2014/main" id="{7A334DA4-49AE-FF0C-C666-FDE71ACF3D99}"/>
                  </a:ext>
                </a:extLst>
              </p:cNvPr>
              <p:cNvSpPr/>
              <p:nvPr/>
            </p:nvSpPr>
            <p:spPr>
              <a:xfrm>
                <a:off x="5773858" y="1719807"/>
                <a:ext cx="648976" cy="661956"/>
              </a:xfrm>
              <a:prstGeom prst="ellipse">
                <a:avLst/>
              </a:prstGeom>
              <a:gradFill flip="none" rotWithShape="1">
                <a:gsLst>
                  <a:gs pos="0">
                    <a:schemeClr val="bg1">
                      <a:alpha val="75000"/>
                    </a:schemeClr>
                  </a:gs>
                  <a:gs pos="34000">
                    <a:schemeClr val="bg1">
                      <a:shade val="100000"/>
                      <a:satMod val="11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97" name="Group 96">
              <a:extLst>
                <a:ext uri="{FF2B5EF4-FFF2-40B4-BE49-F238E27FC236}">
                  <a16:creationId xmlns:a16="http://schemas.microsoft.com/office/drawing/2014/main" id="{EF2F616A-BC7A-6308-3BC2-4F62826B543F}"/>
                </a:ext>
              </a:extLst>
            </p:cNvPr>
            <p:cNvGrpSpPr/>
            <p:nvPr/>
          </p:nvGrpSpPr>
          <p:grpSpPr>
            <a:xfrm>
              <a:off x="2442604" y="2756297"/>
              <a:ext cx="708825" cy="707311"/>
              <a:chOff x="5722938" y="2579688"/>
              <a:chExt cx="742950" cy="741363"/>
            </a:xfrm>
            <a:effectLst>
              <a:outerShdw blurRad="38100" dist="63500" dir="2700000" algn="tl" rotWithShape="0">
                <a:prstClr val="black">
                  <a:alpha val="99000"/>
                </a:prstClr>
              </a:outerShdw>
            </a:effectLst>
          </p:grpSpPr>
          <p:sp>
            <p:nvSpPr>
              <p:cNvPr id="102" name="Freeform 13">
                <a:extLst>
                  <a:ext uri="{FF2B5EF4-FFF2-40B4-BE49-F238E27FC236}">
                    <a16:creationId xmlns:a16="http://schemas.microsoft.com/office/drawing/2014/main" id="{BC83F1D6-628E-1299-745F-F18ADAB24D44}"/>
                  </a:ext>
                </a:extLst>
              </p:cNvPr>
              <p:cNvSpPr>
                <a:spLocks/>
              </p:cNvSpPr>
              <p:nvPr/>
            </p:nvSpPr>
            <p:spPr bwMode="auto">
              <a:xfrm>
                <a:off x="5722938" y="2579688"/>
                <a:ext cx="742950" cy="741363"/>
              </a:xfrm>
              <a:custGeom>
                <a:avLst/>
                <a:gdLst/>
                <a:ahLst/>
                <a:cxnLst>
                  <a:cxn ang="0">
                    <a:pos x="234" y="0"/>
                  </a:cxn>
                  <a:cxn ang="0">
                    <a:pos x="266" y="2"/>
                  </a:cxn>
                  <a:cxn ang="0">
                    <a:pos x="296" y="8"/>
                  </a:cxn>
                  <a:cxn ang="0">
                    <a:pos x="325" y="18"/>
                  </a:cxn>
                  <a:cxn ang="0">
                    <a:pos x="352" y="32"/>
                  </a:cxn>
                  <a:cxn ang="0">
                    <a:pos x="377" y="48"/>
                  </a:cxn>
                  <a:cxn ang="0">
                    <a:pos x="400" y="68"/>
                  </a:cxn>
                  <a:cxn ang="0">
                    <a:pos x="420" y="90"/>
                  </a:cxn>
                  <a:cxn ang="0">
                    <a:pos x="436" y="115"/>
                  </a:cxn>
                  <a:cxn ang="0">
                    <a:pos x="450" y="142"/>
                  </a:cxn>
                  <a:cxn ang="0">
                    <a:pos x="460" y="171"/>
                  </a:cxn>
                  <a:cxn ang="0">
                    <a:pos x="466" y="201"/>
                  </a:cxn>
                  <a:cxn ang="0">
                    <a:pos x="468" y="233"/>
                  </a:cxn>
                  <a:cxn ang="0">
                    <a:pos x="466" y="265"/>
                  </a:cxn>
                  <a:cxn ang="0">
                    <a:pos x="460" y="295"/>
                  </a:cxn>
                  <a:cxn ang="0">
                    <a:pos x="450" y="324"/>
                  </a:cxn>
                  <a:cxn ang="0">
                    <a:pos x="436" y="351"/>
                  </a:cxn>
                  <a:cxn ang="0">
                    <a:pos x="420" y="376"/>
                  </a:cxn>
                  <a:cxn ang="0">
                    <a:pos x="400" y="398"/>
                  </a:cxn>
                  <a:cxn ang="0">
                    <a:pos x="377" y="418"/>
                  </a:cxn>
                  <a:cxn ang="0">
                    <a:pos x="352" y="435"/>
                  </a:cxn>
                  <a:cxn ang="0">
                    <a:pos x="325" y="448"/>
                  </a:cxn>
                  <a:cxn ang="0">
                    <a:pos x="296" y="458"/>
                  </a:cxn>
                  <a:cxn ang="0">
                    <a:pos x="266" y="464"/>
                  </a:cxn>
                  <a:cxn ang="0">
                    <a:pos x="234" y="467"/>
                  </a:cxn>
                  <a:cxn ang="0">
                    <a:pos x="202" y="464"/>
                  </a:cxn>
                  <a:cxn ang="0">
                    <a:pos x="171" y="458"/>
                  </a:cxn>
                  <a:cxn ang="0">
                    <a:pos x="142" y="448"/>
                  </a:cxn>
                  <a:cxn ang="0">
                    <a:pos x="116" y="435"/>
                  </a:cxn>
                  <a:cxn ang="0">
                    <a:pos x="91" y="418"/>
                  </a:cxn>
                  <a:cxn ang="0">
                    <a:pos x="68" y="398"/>
                  </a:cxn>
                  <a:cxn ang="0">
                    <a:pos x="49" y="376"/>
                  </a:cxn>
                  <a:cxn ang="0">
                    <a:pos x="32" y="351"/>
                  </a:cxn>
                  <a:cxn ang="0">
                    <a:pos x="18" y="324"/>
                  </a:cxn>
                  <a:cxn ang="0">
                    <a:pos x="8" y="295"/>
                  </a:cxn>
                  <a:cxn ang="0">
                    <a:pos x="2" y="265"/>
                  </a:cxn>
                  <a:cxn ang="0">
                    <a:pos x="0" y="233"/>
                  </a:cxn>
                  <a:cxn ang="0">
                    <a:pos x="2" y="201"/>
                  </a:cxn>
                  <a:cxn ang="0">
                    <a:pos x="8" y="171"/>
                  </a:cxn>
                  <a:cxn ang="0">
                    <a:pos x="18" y="142"/>
                  </a:cxn>
                  <a:cxn ang="0">
                    <a:pos x="32" y="115"/>
                  </a:cxn>
                  <a:cxn ang="0">
                    <a:pos x="49" y="90"/>
                  </a:cxn>
                  <a:cxn ang="0">
                    <a:pos x="68" y="68"/>
                  </a:cxn>
                  <a:cxn ang="0">
                    <a:pos x="91" y="48"/>
                  </a:cxn>
                  <a:cxn ang="0">
                    <a:pos x="116" y="32"/>
                  </a:cxn>
                  <a:cxn ang="0">
                    <a:pos x="142" y="18"/>
                  </a:cxn>
                  <a:cxn ang="0">
                    <a:pos x="171" y="8"/>
                  </a:cxn>
                  <a:cxn ang="0">
                    <a:pos x="202" y="2"/>
                  </a:cxn>
                  <a:cxn ang="0">
                    <a:pos x="234" y="0"/>
                  </a:cxn>
                </a:cxnLst>
                <a:rect l="0" t="0" r="r" b="b"/>
                <a:pathLst>
                  <a:path w="468" h="467">
                    <a:moveTo>
                      <a:pt x="234" y="0"/>
                    </a:moveTo>
                    <a:lnTo>
                      <a:pt x="266" y="2"/>
                    </a:lnTo>
                    <a:lnTo>
                      <a:pt x="296" y="8"/>
                    </a:lnTo>
                    <a:lnTo>
                      <a:pt x="325" y="18"/>
                    </a:lnTo>
                    <a:lnTo>
                      <a:pt x="352" y="32"/>
                    </a:lnTo>
                    <a:lnTo>
                      <a:pt x="377" y="48"/>
                    </a:lnTo>
                    <a:lnTo>
                      <a:pt x="400" y="68"/>
                    </a:lnTo>
                    <a:lnTo>
                      <a:pt x="420" y="90"/>
                    </a:lnTo>
                    <a:lnTo>
                      <a:pt x="436" y="115"/>
                    </a:lnTo>
                    <a:lnTo>
                      <a:pt x="450" y="142"/>
                    </a:lnTo>
                    <a:lnTo>
                      <a:pt x="460" y="171"/>
                    </a:lnTo>
                    <a:lnTo>
                      <a:pt x="466" y="201"/>
                    </a:lnTo>
                    <a:lnTo>
                      <a:pt x="468" y="233"/>
                    </a:lnTo>
                    <a:lnTo>
                      <a:pt x="466" y="265"/>
                    </a:lnTo>
                    <a:lnTo>
                      <a:pt x="460" y="295"/>
                    </a:lnTo>
                    <a:lnTo>
                      <a:pt x="450" y="324"/>
                    </a:lnTo>
                    <a:lnTo>
                      <a:pt x="436" y="351"/>
                    </a:lnTo>
                    <a:lnTo>
                      <a:pt x="420" y="376"/>
                    </a:lnTo>
                    <a:lnTo>
                      <a:pt x="400" y="398"/>
                    </a:lnTo>
                    <a:lnTo>
                      <a:pt x="377" y="418"/>
                    </a:lnTo>
                    <a:lnTo>
                      <a:pt x="352" y="435"/>
                    </a:lnTo>
                    <a:lnTo>
                      <a:pt x="325" y="448"/>
                    </a:lnTo>
                    <a:lnTo>
                      <a:pt x="296" y="458"/>
                    </a:lnTo>
                    <a:lnTo>
                      <a:pt x="266" y="464"/>
                    </a:lnTo>
                    <a:lnTo>
                      <a:pt x="234" y="467"/>
                    </a:lnTo>
                    <a:lnTo>
                      <a:pt x="202" y="464"/>
                    </a:lnTo>
                    <a:lnTo>
                      <a:pt x="171" y="458"/>
                    </a:lnTo>
                    <a:lnTo>
                      <a:pt x="142" y="448"/>
                    </a:lnTo>
                    <a:lnTo>
                      <a:pt x="116" y="435"/>
                    </a:lnTo>
                    <a:lnTo>
                      <a:pt x="91" y="418"/>
                    </a:lnTo>
                    <a:lnTo>
                      <a:pt x="68" y="398"/>
                    </a:lnTo>
                    <a:lnTo>
                      <a:pt x="49" y="376"/>
                    </a:lnTo>
                    <a:lnTo>
                      <a:pt x="32" y="351"/>
                    </a:lnTo>
                    <a:lnTo>
                      <a:pt x="18" y="324"/>
                    </a:lnTo>
                    <a:lnTo>
                      <a:pt x="8" y="295"/>
                    </a:lnTo>
                    <a:lnTo>
                      <a:pt x="2" y="265"/>
                    </a:lnTo>
                    <a:lnTo>
                      <a:pt x="0" y="233"/>
                    </a:lnTo>
                    <a:lnTo>
                      <a:pt x="2" y="201"/>
                    </a:lnTo>
                    <a:lnTo>
                      <a:pt x="8" y="171"/>
                    </a:lnTo>
                    <a:lnTo>
                      <a:pt x="18" y="142"/>
                    </a:lnTo>
                    <a:lnTo>
                      <a:pt x="32" y="115"/>
                    </a:lnTo>
                    <a:lnTo>
                      <a:pt x="49" y="90"/>
                    </a:lnTo>
                    <a:lnTo>
                      <a:pt x="68" y="68"/>
                    </a:lnTo>
                    <a:lnTo>
                      <a:pt x="91" y="48"/>
                    </a:lnTo>
                    <a:lnTo>
                      <a:pt x="116" y="32"/>
                    </a:lnTo>
                    <a:lnTo>
                      <a:pt x="142" y="18"/>
                    </a:lnTo>
                    <a:lnTo>
                      <a:pt x="171" y="8"/>
                    </a:lnTo>
                    <a:lnTo>
                      <a:pt x="202" y="2"/>
                    </a:lnTo>
                    <a:lnTo>
                      <a:pt x="234" y="0"/>
                    </a:lnTo>
                    <a:close/>
                  </a:path>
                </a:pathLst>
              </a:custGeom>
              <a:solidFill>
                <a:srgbClr val="F8E512"/>
              </a:solidFill>
              <a:ln w="0">
                <a:noFill/>
                <a:prstDash val="solid"/>
                <a:round/>
                <a:headEnd/>
                <a:tailEnd/>
              </a:ln>
              <a:effectLst>
                <a:innerShdw blurRad="368300">
                  <a:prstClr val="black"/>
                </a:innerShdw>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3" name="Freeform 14">
                <a:extLst>
                  <a:ext uri="{FF2B5EF4-FFF2-40B4-BE49-F238E27FC236}">
                    <a16:creationId xmlns:a16="http://schemas.microsoft.com/office/drawing/2014/main" id="{FBCDA726-521F-9166-0785-8276BC7F2E0A}"/>
                  </a:ext>
                </a:extLst>
              </p:cNvPr>
              <p:cNvSpPr>
                <a:spLocks/>
              </p:cNvSpPr>
              <p:nvPr/>
            </p:nvSpPr>
            <p:spPr bwMode="auto">
              <a:xfrm>
                <a:off x="5746750" y="2935288"/>
                <a:ext cx="695325" cy="360363"/>
              </a:xfrm>
              <a:custGeom>
                <a:avLst/>
                <a:gdLst/>
                <a:ahLst/>
                <a:cxnLst>
                  <a:cxn ang="0">
                    <a:pos x="0" y="0"/>
                  </a:cxn>
                  <a:cxn ang="0">
                    <a:pos x="4" y="31"/>
                  </a:cxn>
                  <a:cxn ang="0">
                    <a:pos x="12" y="60"/>
                  </a:cxn>
                  <a:cxn ang="0">
                    <a:pos x="23" y="89"/>
                  </a:cxn>
                  <a:cxn ang="0">
                    <a:pos x="38" y="114"/>
                  </a:cxn>
                  <a:cxn ang="0">
                    <a:pos x="56" y="137"/>
                  </a:cxn>
                  <a:cxn ang="0">
                    <a:pos x="78" y="158"/>
                  </a:cxn>
                  <a:cxn ang="0">
                    <a:pos x="102" y="176"/>
                  </a:cxn>
                  <a:cxn ang="0">
                    <a:pos x="128" y="190"/>
                  </a:cxn>
                  <a:cxn ang="0">
                    <a:pos x="157" y="200"/>
                  </a:cxn>
                  <a:cxn ang="0">
                    <a:pos x="187" y="207"/>
                  </a:cxn>
                  <a:cxn ang="0">
                    <a:pos x="219" y="209"/>
                  </a:cxn>
                  <a:cxn ang="0">
                    <a:pos x="250" y="207"/>
                  </a:cxn>
                  <a:cxn ang="0">
                    <a:pos x="280" y="200"/>
                  </a:cxn>
                  <a:cxn ang="0">
                    <a:pos x="309" y="190"/>
                  </a:cxn>
                  <a:cxn ang="0">
                    <a:pos x="335" y="176"/>
                  </a:cxn>
                  <a:cxn ang="0">
                    <a:pos x="360" y="158"/>
                  </a:cxn>
                  <a:cxn ang="0">
                    <a:pos x="381" y="137"/>
                  </a:cxn>
                  <a:cxn ang="0">
                    <a:pos x="399" y="114"/>
                  </a:cxn>
                  <a:cxn ang="0">
                    <a:pos x="414" y="89"/>
                  </a:cxn>
                  <a:cxn ang="0">
                    <a:pos x="426" y="60"/>
                  </a:cxn>
                  <a:cxn ang="0">
                    <a:pos x="433" y="31"/>
                  </a:cxn>
                  <a:cxn ang="0">
                    <a:pos x="437" y="0"/>
                  </a:cxn>
                  <a:cxn ang="0">
                    <a:pos x="437" y="3"/>
                  </a:cxn>
                  <a:cxn ang="0">
                    <a:pos x="438" y="5"/>
                  </a:cxn>
                  <a:cxn ang="0">
                    <a:pos x="438" y="8"/>
                  </a:cxn>
                  <a:cxn ang="0">
                    <a:pos x="436" y="41"/>
                  </a:cxn>
                  <a:cxn ang="0">
                    <a:pos x="429" y="71"/>
                  </a:cxn>
                  <a:cxn ang="0">
                    <a:pos x="417" y="100"/>
                  </a:cxn>
                  <a:cxn ang="0">
                    <a:pos x="403" y="127"/>
                  </a:cxn>
                  <a:cxn ang="0">
                    <a:pos x="384" y="152"/>
                  </a:cxn>
                  <a:cxn ang="0">
                    <a:pos x="363" y="173"/>
                  </a:cxn>
                  <a:cxn ang="0">
                    <a:pos x="338" y="192"/>
                  </a:cxn>
                  <a:cxn ang="0">
                    <a:pos x="311" y="206"/>
                  </a:cxn>
                  <a:cxn ang="0">
                    <a:pos x="282" y="218"/>
                  </a:cxn>
                  <a:cxn ang="0">
                    <a:pos x="251" y="224"/>
                  </a:cxn>
                  <a:cxn ang="0">
                    <a:pos x="219" y="227"/>
                  </a:cxn>
                  <a:cxn ang="0">
                    <a:pos x="186" y="224"/>
                  </a:cxn>
                  <a:cxn ang="0">
                    <a:pos x="155" y="218"/>
                  </a:cxn>
                  <a:cxn ang="0">
                    <a:pos x="127" y="206"/>
                  </a:cxn>
                  <a:cxn ang="0">
                    <a:pos x="100" y="192"/>
                  </a:cxn>
                  <a:cxn ang="0">
                    <a:pos x="76" y="173"/>
                  </a:cxn>
                  <a:cxn ang="0">
                    <a:pos x="53" y="152"/>
                  </a:cxn>
                  <a:cxn ang="0">
                    <a:pos x="35" y="127"/>
                  </a:cxn>
                  <a:cxn ang="0">
                    <a:pos x="21" y="100"/>
                  </a:cxn>
                  <a:cxn ang="0">
                    <a:pos x="9" y="71"/>
                  </a:cxn>
                  <a:cxn ang="0">
                    <a:pos x="2" y="41"/>
                  </a:cxn>
                  <a:cxn ang="0">
                    <a:pos x="0" y="8"/>
                  </a:cxn>
                  <a:cxn ang="0">
                    <a:pos x="0" y="0"/>
                  </a:cxn>
                </a:cxnLst>
                <a:rect l="0" t="0" r="r" b="b"/>
                <a:pathLst>
                  <a:path w="438" h="227">
                    <a:moveTo>
                      <a:pt x="0" y="0"/>
                    </a:moveTo>
                    <a:lnTo>
                      <a:pt x="4" y="31"/>
                    </a:lnTo>
                    <a:lnTo>
                      <a:pt x="12" y="60"/>
                    </a:lnTo>
                    <a:lnTo>
                      <a:pt x="23" y="89"/>
                    </a:lnTo>
                    <a:lnTo>
                      <a:pt x="38" y="114"/>
                    </a:lnTo>
                    <a:lnTo>
                      <a:pt x="56" y="137"/>
                    </a:lnTo>
                    <a:lnTo>
                      <a:pt x="78" y="158"/>
                    </a:lnTo>
                    <a:lnTo>
                      <a:pt x="102" y="176"/>
                    </a:lnTo>
                    <a:lnTo>
                      <a:pt x="128" y="190"/>
                    </a:lnTo>
                    <a:lnTo>
                      <a:pt x="157" y="200"/>
                    </a:lnTo>
                    <a:lnTo>
                      <a:pt x="187" y="207"/>
                    </a:lnTo>
                    <a:lnTo>
                      <a:pt x="219" y="209"/>
                    </a:lnTo>
                    <a:lnTo>
                      <a:pt x="250" y="207"/>
                    </a:lnTo>
                    <a:lnTo>
                      <a:pt x="280" y="200"/>
                    </a:lnTo>
                    <a:lnTo>
                      <a:pt x="309" y="190"/>
                    </a:lnTo>
                    <a:lnTo>
                      <a:pt x="335" y="176"/>
                    </a:lnTo>
                    <a:lnTo>
                      <a:pt x="360" y="158"/>
                    </a:lnTo>
                    <a:lnTo>
                      <a:pt x="381" y="137"/>
                    </a:lnTo>
                    <a:lnTo>
                      <a:pt x="399" y="114"/>
                    </a:lnTo>
                    <a:lnTo>
                      <a:pt x="414" y="89"/>
                    </a:lnTo>
                    <a:lnTo>
                      <a:pt x="426" y="60"/>
                    </a:lnTo>
                    <a:lnTo>
                      <a:pt x="433" y="31"/>
                    </a:lnTo>
                    <a:lnTo>
                      <a:pt x="437" y="0"/>
                    </a:lnTo>
                    <a:lnTo>
                      <a:pt x="437" y="3"/>
                    </a:lnTo>
                    <a:lnTo>
                      <a:pt x="438" y="5"/>
                    </a:lnTo>
                    <a:lnTo>
                      <a:pt x="438" y="8"/>
                    </a:lnTo>
                    <a:lnTo>
                      <a:pt x="436" y="41"/>
                    </a:lnTo>
                    <a:lnTo>
                      <a:pt x="429" y="71"/>
                    </a:lnTo>
                    <a:lnTo>
                      <a:pt x="417" y="100"/>
                    </a:lnTo>
                    <a:lnTo>
                      <a:pt x="403" y="127"/>
                    </a:lnTo>
                    <a:lnTo>
                      <a:pt x="384" y="152"/>
                    </a:lnTo>
                    <a:lnTo>
                      <a:pt x="363" y="173"/>
                    </a:lnTo>
                    <a:lnTo>
                      <a:pt x="338" y="192"/>
                    </a:lnTo>
                    <a:lnTo>
                      <a:pt x="311" y="206"/>
                    </a:lnTo>
                    <a:lnTo>
                      <a:pt x="282" y="218"/>
                    </a:lnTo>
                    <a:lnTo>
                      <a:pt x="251" y="224"/>
                    </a:lnTo>
                    <a:lnTo>
                      <a:pt x="219" y="227"/>
                    </a:lnTo>
                    <a:lnTo>
                      <a:pt x="186" y="224"/>
                    </a:lnTo>
                    <a:lnTo>
                      <a:pt x="155" y="218"/>
                    </a:lnTo>
                    <a:lnTo>
                      <a:pt x="127" y="206"/>
                    </a:lnTo>
                    <a:lnTo>
                      <a:pt x="100" y="192"/>
                    </a:lnTo>
                    <a:lnTo>
                      <a:pt x="76" y="173"/>
                    </a:lnTo>
                    <a:lnTo>
                      <a:pt x="53" y="152"/>
                    </a:lnTo>
                    <a:lnTo>
                      <a:pt x="35" y="127"/>
                    </a:lnTo>
                    <a:lnTo>
                      <a:pt x="21" y="100"/>
                    </a:lnTo>
                    <a:lnTo>
                      <a:pt x="9" y="71"/>
                    </a:lnTo>
                    <a:lnTo>
                      <a:pt x="2" y="41"/>
                    </a:lnTo>
                    <a:lnTo>
                      <a:pt x="0" y="8"/>
                    </a:lnTo>
                    <a:lnTo>
                      <a:pt x="0" y="0"/>
                    </a:lnTo>
                    <a:close/>
                  </a:path>
                </a:pathLst>
              </a:custGeom>
              <a:solidFill>
                <a:schemeClr val="bg1">
                  <a:alpha val="33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4" name="Oval 103">
                <a:extLst>
                  <a:ext uri="{FF2B5EF4-FFF2-40B4-BE49-F238E27FC236}">
                    <a16:creationId xmlns:a16="http://schemas.microsoft.com/office/drawing/2014/main" id="{85833D34-8710-E14A-9DAA-9641ABCB2D36}"/>
                  </a:ext>
                </a:extLst>
              </p:cNvPr>
              <p:cNvSpPr/>
              <p:nvPr/>
            </p:nvSpPr>
            <p:spPr>
              <a:xfrm>
                <a:off x="5773858" y="2623190"/>
                <a:ext cx="648976" cy="661956"/>
              </a:xfrm>
              <a:prstGeom prst="ellipse">
                <a:avLst/>
              </a:prstGeom>
              <a:gradFill flip="none" rotWithShape="1">
                <a:gsLst>
                  <a:gs pos="0">
                    <a:schemeClr val="bg1">
                      <a:alpha val="75000"/>
                    </a:schemeClr>
                  </a:gs>
                  <a:gs pos="34000">
                    <a:schemeClr val="bg1">
                      <a:shade val="100000"/>
                      <a:satMod val="11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98" name="Group 97">
              <a:extLst>
                <a:ext uri="{FF2B5EF4-FFF2-40B4-BE49-F238E27FC236}">
                  <a16:creationId xmlns:a16="http://schemas.microsoft.com/office/drawing/2014/main" id="{7D2DB9B5-3BBE-FC9B-0E01-6B82E0C90F15}"/>
                </a:ext>
              </a:extLst>
            </p:cNvPr>
            <p:cNvGrpSpPr/>
            <p:nvPr/>
          </p:nvGrpSpPr>
          <p:grpSpPr>
            <a:xfrm>
              <a:off x="2442604" y="3616580"/>
              <a:ext cx="708825" cy="708825"/>
              <a:chOff x="5722938" y="3481388"/>
              <a:chExt cx="742950" cy="742950"/>
            </a:xfrm>
            <a:effectLst>
              <a:outerShdw blurRad="38100" dist="63500" dir="2700000" algn="tl" rotWithShape="0">
                <a:prstClr val="black">
                  <a:alpha val="99000"/>
                </a:prstClr>
              </a:outerShdw>
            </a:effectLst>
          </p:grpSpPr>
          <p:sp>
            <p:nvSpPr>
              <p:cNvPr id="99" name="Freeform 9">
                <a:extLst>
                  <a:ext uri="{FF2B5EF4-FFF2-40B4-BE49-F238E27FC236}">
                    <a16:creationId xmlns:a16="http://schemas.microsoft.com/office/drawing/2014/main" id="{4F458ADF-21BB-0153-0647-959142ADC853}"/>
                  </a:ext>
                </a:extLst>
              </p:cNvPr>
              <p:cNvSpPr>
                <a:spLocks/>
              </p:cNvSpPr>
              <p:nvPr/>
            </p:nvSpPr>
            <p:spPr bwMode="auto">
              <a:xfrm>
                <a:off x="5722938" y="3481388"/>
                <a:ext cx="742950" cy="742950"/>
              </a:xfrm>
              <a:custGeom>
                <a:avLst/>
                <a:gdLst/>
                <a:ahLst/>
                <a:cxnLst>
                  <a:cxn ang="0">
                    <a:pos x="234" y="0"/>
                  </a:cxn>
                  <a:cxn ang="0">
                    <a:pos x="266" y="3"/>
                  </a:cxn>
                  <a:cxn ang="0">
                    <a:pos x="296" y="9"/>
                  </a:cxn>
                  <a:cxn ang="0">
                    <a:pos x="325" y="19"/>
                  </a:cxn>
                  <a:cxn ang="0">
                    <a:pos x="352" y="32"/>
                  </a:cxn>
                  <a:cxn ang="0">
                    <a:pos x="377" y="49"/>
                  </a:cxn>
                  <a:cxn ang="0">
                    <a:pos x="400" y="69"/>
                  </a:cxn>
                  <a:cxn ang="0">
                    <a:pos x="420" y="91"/>
                  </a:cxn>
                  <a:cxn ang="0">
                    <a:pos x="436" y="116"/>
                  </a:cxn>
                  <a:cxn ang="0">
                    <a:pos x="450" y="142"/>
                  </a:cxn>
                  <a:cxn ang="0">
                    <a:pos x="460" y="171"/>
                  </a:cxn>
                  <a:cxn ang="0">
                    <a:pos x="466" y="202"/>
                  </a:cxn>
                  <a:cxn ang="0">
                    <a:pos x="468" y="234"/>
                  </a:cxn>
                  <a:cxn ang="0">
                    <a:pos x="466" y="266"/>
                  </a:cxn>
                  <a:cxn ang="0">
                    <a:pos x="460" y="296"/>
                  </a:cxn>
                  <a:cxn ang="0">
                    <a:pos x="450" y="325"/>
                  </a:cxn>
                  <a:cxn ang="0">
                    <a:pos x="436" y="351"/>
                  </a:cxn>
                  <a:cxn ang="0">
                    <a:pos x="420" y="376"/>
                  </a:cxn>
                  <a:cxn ang="0">
                    <a:pos x="400" y="399"/>
                  </a:cxn>
                  <a:cxn ang="0">
                    <a:pos x="377" y="419"/>
                  </a:cxn>
                  <a:cxn ang="0">
                    <a:pos x="352" y="436"/>
                  </a:cxn>
                  <a:cxn ang="0">
                    <a:pos x="325" y="449"/>
                  </a:cxn>
                  <a:cxn ang="0">
                    <a:pos x="296" y="459"/>
                  </a:cxn>
                  <a:cxn ang="0">
                    <a:pos x="266" y="465"/>
                  </a:cxn>
                  <a:cxn ang="0">
                    <a:pos x="234" y="468"/>
                  </a:cxn>
                  <a:cxn ang="0">
                    <a:pos x="202" y="465"/>
                  </a:cxn>
                  <a:cxn ang="0">
                    <a:pos x="171" y="459"/>
                  </a:cxn>
                  <a:cxn ang="0">
                    <a:pos x="142" y="449"/>
                  </a:cxn>
                  <a:cxn ang="0">
                    <a:pos x="116" y="436"/>
                  </a:cxn>
                  <a:cxn ang="0">
                    <a:pos x="91" y="419"/>
                  </a:cxn>
                  <a:cxn ang="0">
                    <a:pos x="68" y="399"/>
                  </a:cxn>
                  <a:cxn ang="0">
                    <a:pos x="49" y="376"/>
                  </a:cxn>
                  <a:cxn ang="0">
                    <a:pos x="32" y="351"/>
                  </a:cxn>
                  <a:cxn ang="0">
                    <a:pos x="18" y="325"/>
                  </a:cxn>
                  <a:cxn ang="0">
                    <a:pos x="8" y="296"/>
                  </a:cxn>
                  <a:cxn ang="0">
                    <a:pos x="2" y="266"/>
                  </a:cxn>
                  <a:cxn ang="0">
                    <a:pos x="0" y="234"/>
                  </a:cxn>
                  <a:cxn ang="0">
                    <a:pos x="2" y="202"/>
                  </a:cxn>
                  <a:cxn ang="0">
                    <a:pos x="8" y="171"/>
                  </a:cxn>
                  <a:cxn ang="0">
                    <a:pos x="18" y="142"/>
                  </a:cxn>
                  <a:cxn ang="0">
                    <a:pos x="32" y="116"/>
                  </a:cxn>
                  <a:cxn ang="0">
                    <a:pos x="49" y="91"/>
                  </a:cxn>
                  <a:cxn ang="0">
                    <a:pos x="68" y="69"/>
                  </a:cxn>
                  <a:cxn ang="0">
                    <a:pos x="91" y="49"/>
                  </a:cxn>
                  <a:cxn ang="0">
                    <a:pos x="116" y="32"/>
                  </a:cxn>
                  <a:cxn ang="0">
                    <a:pos x="142" y="19"/>
                  </a:cxn>
                  <a:cxn ang="0">
                    <a:pos x="171" y="9"/>
                  </a:cxn>
                  <a:cxn ang="0">
                    <a:pos x="202" y="3"/>
                  </a:cxn>
                  <a:cxn ang="0">
                    <a:pos x="234" y="0"/>
                  </a:cxn>
                </a:cxnLst>
                <a:rect l="0" t="0" r="r" b="b"/>
                <a:pathLst>
                  <a:path w="468" h="468">
                    <a:moveTo>
                      <a:pt x="234" y="0"/>
                    </a:moveTo>
                    <a:lnTo>
                      <a:pt x="266" y="3"/>
                    </a:lnTo>
                    <a:lnTo>
                      <a:pt x="296" y="9"/>
                    </a:lnTo>
                    <a:lnTo>
                      <a:pt x="325" y="19"/>
                    </a:lnTo>
                    <a:lnTo>
                      <a:pt x="352" y="32"/>
                    </a:lnTo>
                    <a:lnTo>
                      <a:pt x="377" y="49"/>
                    </a:lnTo>
                    <a:lnTo>
                      <a:pt x="400" y="69"/>
                    </a:lnTo>
                    <a:lnTo>
                      <a:pt x="420" y="91"/>
                    </a:lnTo>
                    <a:lnTo>
                      <a:pt x="436" y="116"/>
                    </a:lnTo>
                    <a:lnTo>
                      <a:pt x="450" y="142"/>
                    </a:lnTo>
                    <a:lnTo>
                      <a:pt x="460" y="171"/>
                    </a:lnTo>
                    <a:lnTo>
                      <a:pt x="466" y="202"/>
                    </a:lnTo>
                    <a:lnTo>
                      <a:pt x="468" y="234"/>
                    </a:lnTo>
                    <a:lnTo>
                      <a:pt x="466" y="266"/>
                    </a:lnTo>
                    <a:lnTo>
                      <a:pt x="460" y="296"/>
                    </a:lnTo>
                    <a:lnTo>
                      <a:pt x="450" y="325"/>
                    </a:lnTo>
                    <a:lnTo>
                      <a:pt x="436" y="351"/>
                    </a:lnTo>
                    <a:lnTo>
                      <a:pt x="420" y="376"/>
                    </a:lnTo>
                    <a:lnTo>
                      <a:pt x="400" y="399"/>
                    </a:lnTo>
                    <a:lnTo>
                      <a:pt x="377" y="419"/>
                    </a:lnTo>
                    <a:lnTo>
                      <a:pt x="352" y="436"/>
                    </a:lnTo>
                    <a:lnTo>
                      <a:pt x="325" y="449"/>
                    </a:lnTo>
                    <a:lnTo>
                      <a:pt x="296" y="459"/>
                    </a:lnTo>
                    <a:lnTo>
                      <a:pt x="266" y="465"/>
                    </a:lnTo>
                    <a:lnTo>
                      <a:pt x="234" y="468"/>
                    </a:lnTo>
                    <a:lnTo>
                      <a:pt x="202" y="465"/>
                    </a:lnTo>
                    <a:lnTo>
                      <a:pt x="171" y="459"/>
                    </a:lnTo>
                    <a:lnTo>
                      <a:pt x="142" y="449"/>
                    </a:lnTo>
                    <a:lnTo>
                      <a:pt x="116" y="436"/>
                    </a:lnTo>
                    <a:lnTo>
                      <a:pt x="91" y="419"/>
                    </a:lnTo>
                    <a:lnTo>
                      <a:pt x="68" y="399"/>
                    </a:lnTo>
                    <a:lnTo>
                      <a:pt x="49" y="376"/>
                    </a:lnTo>
                    <a:lnTo>
                      <a:pt x="32" y="351"/>
                    </a:lnTo>
                    <a:lnTo>
                      <a:pt x="18" y="325"/>
                    </a:lnTo>
                    <a:lnTo>
                      <a:pt x="8" y="296"/>
                    </a:lnTo>
                    <a:lnTo>
                      <a:pt x="2" y="266"/>
                    </a:lnTo>
                    <a:lnTo>
                      <a:pt x="0" y="234"/>
                    </a:lnTo>
                    <a:lnTo>
                      <a:pt x="2" y="202"/>
                    </a:lnTo>
                    <a:lnTo>
                      <a:pt x="8" y="171"/>
                    </a:lnTo>
                    <a:lnTo>
                      <a:pt x="18" y="142"/>
                    </a:lnTo>
                    <a:lnTo>
                      <a:pt x="32" y="116"/>
                    </a:lnTo>
                    <a:lnTo>
                      <a:pt x="49" y="91"/>
                    </a:lnTo>
                    <a:lnTo>
                      <a:pt x="68" y="69"/>
                    </a:lnTo>
                    <a:lnTo>
                      <a:pt x="91" y="49"/>
                    </a:lnTo>
                    <a:lnTo>
                      <a:pt x="116" y="32"/>
                    </a:lnTo>
                    <a:lnTo>
                      <a:pt x="142" y="19"/>
                    </a:lnTo>
                    <a:lnTo>
                      <a:pt x="171" y="9"/>
                    </a:lnTo>
                    <a:lnTo>
                      <a:pt x="202" y="3"/>
                    </a:lnTo>
                    <a:lnTo>
                      <a:pt x="234" y="0"/>
                    </a:lnTo>
                    <a:close/>
                  </a:path>
                </a:pathLst>
              </a:custGeom>
              <a:solidFill>
                <a:schemeClr val="tx1">
                  <a:lumMod val="75000"/>
                  <a:lumOff val="25000"/>
                </a:schemeClr>
              </a:solidFill>
              <a:ln w="0">
                <a:noFill/>
                <a:prstDash val="solid"/>
                <a:round/>
                <a:headEnd/>
                <a:tailEnd/>
              </a:ln>
              <a:effectLst>
                <a:innerShdw blurRad="368300">
                  <a:prstClr val="black"/>
                </a:innerShdw>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0" name="Freeform 12">
                <a:extLst>
                  <a:ext uri="{FF2B5EF4-FFF2-40B4-BE49-F238E27FC236}">
                    <a16:creationId xmlns:a16="http://schemas.microsoft.com/office/drawing/2014/main" id="{98289E28-3B8F-1CCB-531F-2D64E55E3057}"/>
                  </a:ext>
                </a:extLst>
              </p:cNvPr>
              <p:cNvSpPr>
                <a:spLocks/>
              </p:cNvSpPr>
              <p:nvPr/>
            </p:nvSpPr>
            <p:spPr bwMode="auto">
              <a:xfrm>
                <a:off x="5746750" y="3838576"/>
                <a:ext cx="695325" cy="360363"/>
              </a:xfrm>
              <a:custGeom>
                <a:avLst/>
                <a:gdLst/>
                <a:ahLst/>
                <a:cxnLst>
                  <a:cxn ang="0">
                    <a:pos x="0" y="0"/>
                  </a:cxn>
                  <a:cxn ang="0">
                    <a:pos x="4" y="31"/>
                  </a:cxn>
                  <a:cxn ang="0">
                    <a:pos x="12" y="60"/>
                  </a:cxn>
                  <a:cxn ang="0">
                    <a:pos x="23" y="88"/>
                  </a:cxn>
                  <a:cxn ang="0">
                    <a:pos x="38" y="114"/>
                  </a:cxn>
                  <a:cxn ang="0">
                    <a:pos x="56" y="137"/>
                  </a:cxn>
                  <a:cxn ang="0">
                    <a:pos x="78" y="157"/>
                  </a:cxn>
                  <a:cxn ang="0">
                    <a:pos x="102" y="176"/>
                  </a:cxn>
                  <a:cxn ang="0">
                    <a:pos x="128" y="189"/>
                  </a:cxn>
                  <a:cxn ang="0">
                    <a:pos x="157" y="200"/>
                  </a:cxn>
                  <a:cxn ang="0">
                    <a:pos x="187" y="207"/>
                  </a:cxn>
                  <a:cxn ang="0">
                    <a:pos x="219" y="209"/>
                  </a:cxn>
                  <a:cxn ang="0">
                    <a:pos x="250" y="207"/>
                  </a:cxn>
                  <a:cxn ang="0">
                    <a:pos x="280" y="200"/>
                  </a:cxn>
                  <a:cxn ang="0">
                    <a:pos x="309" y="189"/>
                  </a:cxn>
                  <a:cxn ang="0">
                    <a:pos x="335" y="176"/>
                  </a:cxn>
                  <a:cxn ang="0">
                    <a:pos x="360" y="157"/>
                  </a:cxn>
                  <a:cxn ang="0">
                    <a:pos x="381" y="137"/>
                  </a:cxn>
                  <a:cxn ang="0">
                    <a:pos x="399" y="114"/>
                  </a:cxn>
                  <a:cxn ang="0">
                    <a:pos x="414" y="88"/>
                  </a:cxn>
                  <a:cxn ang="0">
                    <a:pos x="426" y="60"/>
                  </a:cxn>
                  <a:cxn ang="0">
                    <a:pos x="433" y="31"/>
                  </a:cxn>
                  <a:cxn ang="0">
                    <a:pos x="437" y="0"/>
                  </a:cxn>
                  <a:cxn ang="0">
                    <a:pos x="437" y="3"/>
                  </a:cxn>
                  <a:cxn ang="0">
                    <a:pos x="438" y="5"/>
                  </a:cxn>
                  <a:cxn ang="0">
                    <a:pos x="438" y="8"/>
                  </a:cxn>
                  <a:cxn ang="0">
                    <a:pos x="436" y="41"/>
                  </a:cxn>
                  <a:cxn ang="0">
                    <a:pos x="429" y="71"/>
                  </a:cxn>
                  <a:cxn ang="0">
                    <a:pos x="417" y="100"/>
                  </a:cxn>
                  <a:cxn ang="0">
                    <a:pos x="403" y="127"/>
                  </a:cxn>
                  <a:cxn ang="0">
                    <a:pos x="384" y="151"/>
                  </a:cxn>
                  <a:cxn ang="0">
                    <a:pos x="363" y="173"/>
                  </a:cxn>
                  <a:cxn ang="0">
                    <a:pos x="338" y="192"/>
                  </a:cxn>
                  <a:cxn ang="0">
                    <a:pos x="311" y="206"/>
                  </a:cxn>
                  <a:cxn ang="0">
                    <a:pos x="282" y="217"/>
                  </a:cxn>
                  <a:cxn ang="0">
                    <a:pos x="251" y="224"/>
                  </a:cxn>
                  <a:cxn ang="0">
                    <a:pos x="219" y="227"/>
                  </a:cxn>
                  <a:cxn ang="0">
                    <a:pos x="186" y="224"/>
                  </a:cxn>
                  <a:cxn ang="0">
                    <a:pos x="155" y="217"/>
                  </a:cxn>
                  <a:cxn ang="0">
                    <a:pos x="127" y="206"/>
                  </a:cxn>
                  <a:cxn ang="0">
                    <a:pos x="100" y="192"/>
                  </a:cxn>
                  <a:cxn ang="0">
                    <a:pos x="76" y="173"/>
                  </a:cxn>
                  <a:cxn ang="0">
                    <a:pos x="53" y="151"/>
                  </a:cxn>
                  <a:cxn ang="0">
                    <a:pos x="35" y="127"/>
                  </a:cxn>
                  <a:cxn ang="0">
                    <a:pos x="21" y="100"/>
                  </a:cxn>
                  <a:cxn ang="0">
                    <a:pos x="9" y="71"/>
                  </a:cxn>
                  <a:cxn ang="0">
                    <a:pos x="2" y="41"/>
                  </a:cxn>
                  <a:cxn ang="0">
                    <a:pos x="0" y="8"/>
                  </a:cxn>
                  <a:cxn ang="0">
                    <a:pos x="0" y="0"/>
                  </a:cxn>
                </a:cxnLst>
                <a:rect l="0" t="0" r="r" b="b"/>
                <a:pathLst>
                  <a:path w="438" h="227">
                    <a:moveTo>
                      <a:pt x="0" y="0"/>
                    </a:moveTo>
                    <a:lnTo>
                      <a:pt x="4" y="31"/>
                    </a:lnTo>
                    <a:lnTo>
                      <a:pt x="12" y="60"/>
                    </a:lnTo>
                    <a:lnTo>
                      <a:pt x="23" y="88"/>
                    </a:lnTo>
                    <a:lnTo>
                      <a:pt x="38" y="114"/>
                    </a:lnTo>
                    <a:lnTo>
                      <a:pt x="56" y="137"/>
                    </a:lnTo>
                    <a:lnTo>
                      <a:pt x="78" y="157"/>
                    </a:lnTo>
                    <a:lnTo>
                      <a:pt x="102" y="176"/>
                    </a:lnTo>
                    <a:lnTo>
                      <a:pt x="128" y="189"/>
                    </a:lnTo>
                    <a:lnTo>
                      <a:pt x="157" y="200"/>
                    </a:lnTo>
                    <a:lnTo>
                      <a:pt x="187" y="207"/>
                    </a:lnTo>
                    <a:lnTo>
                      <a:pt x="219" y="209"/>
                    </a:lnTo>
                    <a:lnTo>
                      <a:pt x="250" y="207"/>
                    </a:lnTo>
                    <a:lnTo>
                      <a:pt x="280" y="200"/>
                    </a:lnTo>
                    <a:lnTo>
                      <a:pt x="309" y="189"/>
                    </a:lnTo>
                    <a:lnTo>
                      <a:pt x="335" y="176"/>
                    </a:lnTo>
                    <a:lnTo>
                      <a:pt x="360" y="157"/>
                    </a:lnTo>
                    <a:lnTo>
                      <a:pt x="381" y="137"/>
                    </a:lnTo>
                    <a:lnTo>
                      <a:pt x="399" y="114"/>
                    </a:lnTo>
                    <a:lnTo>
                      <a:pt x="414" y="88"/>
                    </a:lnTo>
                    <a:lnTo>
                      <a:pt x="426" y="60"/>
                    </a:lnTo>
                    <a:lnTo>
                      <a:pt x="433" y="31"/>
                    </a:lnTo>
                    <a:lnTo>
                      <a:pt x="437" y="0"/>
                    </a:lnTo>
                    <a:lnTo>
                      <a:pt x="437" y="3"/>
                    </a:lnTo>
                    <a:lnTo>
                      <a:pt x="438" y="5"/>
                    </a:lnTo>
                    <a:lnTo>
                      <a:pt x="438" y="8"/>
                    </a:lnTo>
                    <a:lnTo>
                      <a:pt x="436" y="41"/>
                    </a:lnTo>
                    <a:lnTo>
                      <a:pt x="429" y="71"/>
                    </a:lnTo>
                    <a:lnTo>
                      <a:pt x="417" y="100"/>
                    </a:lnTo>
                    <a:lnTo>
                      <a:pt x="403" y="127"/>
                    </a:lnTo>
                    <a:lnTo>
                      <a:pt x="384" y="151"/>
                    </a:lnTo>
                    <a:lnTo>
                      <a:pt x="363" y="173"/>
                    </a:lnTo>
                    <a:lnTo>
                      <a:pt x="338" y="192"/>
                    </a:lnTo>
                    <a:lnTo>
                      <a:pt x="311" y="206"/>
                    </a:lnTo>
                    <a:lnTo>
                      <a:pt x="282" y="217"/>
                    </a:lnTo>
                    <a:lnTo>
                      <a:pt x="251" y="224"/>
                    </a:lnTo>
                    <a:lnTo>
                      <a:pt x="219" y="227"/>
                    </a:lnTo>
                    <a:lnTo>
                      <a:pt x="186" y="224"/>
                    </a:lnTo>
                    <a:lnTo>
                      <a:pt x="155" y="217"/>
                    </a:lnTo>
                    <a:lnTo>
                      <a:pt x="127" y="206"/>
                    </a:lnTo>
                    <a:lnTo>
                      <a:pt x="100" y="192"/>
                    </a:lnTo>
                    <a:lnTo>
                      <a:pt x="76" y="173"/>
                    </a:lnTo>
                    <a:lnTo>
                      <a:pt x="53" y="151"/>
                    </a:lnTo>
                    <a:lnTo>
                      <a:pt x="35" y="127"/>
                    </a:lnTo>
                    <a:lnTo>
                      <a:pt x="21" y="100"/>
                    </a:lnTo>
                    <a:lnTo>
                      <a:pt x="9" y="71"/>
                    </a:lnTo>
                    <a:lnTo>
                      <a:pt x="2" y="41"/>
                    </a:lnTo>
                    <a:lnTo>
                      <a:pt x="0" y="8"/>
                    </a:lnTo>
                    <a:lnTo>
                      <a:pt x="0" y="0"/>
                    </a:lnTo>
                    <a:close/>
                  </a:path>
                </a:pathLst>
              </a:custGeom>
              <a:solidFill>
                <a:schemeClr val="bg1">
                  <a:alpha val="33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1" name="Oval 100">
                <a:extLst>
                  <a:ext uri="{FF2B5EF4-FFF2-40B4-BE49-F238E27FC236}">
                    <a16:creationId xmlns:a16="http://schemas.microsoft.com/office/drawing/2014/main" id="{C5E2B1FE-F754-F888-7DA6-F79D509247D8}"/>
                  </a:ext>
                </a:extLst>
              </p:cNvPr>
              <p:cNvSpPr/>
              <p:nvPr/>
            </p:nvSpPr>
            <p:spPr>
              <a:xfrm>
                <a:off x="5773858" y="3537590"/>
                <a:ext cx="648976" cy="661956"/>
              </a:xfrm>
              <a:prstGeom prst="ellipse">
                <a:avLst/>
              </a:prstGeom>
              <a:gradFill flip="none" rotWithShape="1">
                <a:gsLst>
                  <a:gs pos="0">
                    <a:schemeClr val="bg1">
                      <a:alpha val="75000"/>
                    </a:schemeClr>
                  </a:gs>
                  <a:gs pos="34000">
                    <a:schemeClr val="bg1">
                      <a:shade val="100000"/>
                      <a:satMod val="11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sp>
        <p:nvSpPr>
          <p:cNvPr id="108" name="Rectangle 6">
            <a:extLst>
              <a:ext uri="{FF2B5EF4-FFF2-40B4-BE49-F238E27FC236}">
                <a16:creationId xmlns:a16="http://schemas.microsoft.com/office/drawing/2014/main" id="{208C7FC3-B226-AB57-EA78-83601A83FDA5}"/>
              </a:ext>
            </a:extLst>
          </p:cNvPr>
          <p:cNvSpPr>
            <a:spLocks noChangeArrowheads="1"/>
          </p:cNvSpPr>
          <p:nvPr/>
        </p:nvSpPr>
        <p:spPr bwMode="auto">
          <a:xfrm>
            <a:off x="1944497" y="4165406"/>
            <a:ext cx="249911" cy="1025237"/>
          </a:xfrm>
          <a:prstGeom prst="rect">
            <a:avLst/>
          </a:prstGeom>
          <a:gradFill>
            <a:gsLst>
              <a:gs pos="0">
                <a:schemeClr val="tx1">
                  <a:lumMod val="65000"/>
                  <a:lumOff val="35000"/>
                </a:schemeClr>
              </a:gs>
              <a:gs pos="50000">
                <a:schemeClr val="bg1">
                  <a:lumMod val="95000"/>
                </a:schemeClr>
              </a:gs>
              <a:gs pos="100000">
                <a:schemeClr val="bg1"/>
              </a:gs>
            </a:gsLst>
            <a:lin ang="2700000" scaled="0"/>
          </a:gra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9" name="Rectangle 108">
            <a:extLst>
              <a:ext uri="{FF2B5EF4-FFF2-40B4-BE49-F238E27FC236}">
                <a16:creationId xmlns:a16="http://schemas.microsoft.com/office/drawing/2014/main" id="{B3A513C8-0D28-46B6-EF15-B1C08564CD23}"/>
              </a:ext>
            </a:extLst>
          </p:cNvPr>
          <p:cNvSpPr/>
          <p:nvPr/>
        </p:nvSpPr>
        <p:spPr>
          <a:xfrm>
            <a:off x="526063" y="4509120"/>
            <a:ext cx="2971800" cy="1524000"/>
          </a:xfrm>
          <a:prstGeom prst="rect">
            <a:avLst/>
          </a:prstGeom>
          <a:solidFill>
            <a:srgbClr val="FFC000"/>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r>
              <a:rPr lang="en-US" sz="1600" kern="0" dirty="0">
                <a:solidFill>
                  <a:schemeClr val="tx1"/>
                </a:solidFill>
                <a:ea typeface="ADLaM Display" panose="020F0502020204030204" pitchFamily="2" charset="0"/>
                <a:cs typeface="Poppins" panose="00000500000000000000" pitchFamily="2" charset="0"/>
              </a:rPr>
              <a:t>Frequently Asked Questions</a:t>
            </a:r>
          </a:p>
        </p:txBody>
      </p:sp>
      <p:sp>
        <p:nvSpPr>
          <p:cNvPr id="110" name="TextBox 109">
            <a:extLst>
              <a:ext uri="{FF2B5EF4-FFF2-40B4-BE49-F238E27FC236}">
                <a16:creationId xmlns:a16="http://schemas.microsoft.com/office/drawing/2014/main" id="{5DC10DF8-64E8-A2B4-3446-FE187276CFA9}"/>
              </a:ext>
            </a:extLst>
          </p:cNvPr>
          <p:cNvSpPr txBox="1"/>
          <p:nvPr/>
        </p:nvSpPr>
        <p:spPr>
          <a:xfrm>
            <a:off x="3765859" y="1418128"/>
            <a:ext cx="7802747" cy="2585323"/>
          </a:xfrm>
          <a:prstGeom prst="rect">
            <a:avLst/>
          </a:prstGeom>
          <a:scene3d>
            <a:camera prst="orthographicFront"/>
            <a:lightRig rig="threePt" dir="t"/>
          </a:scene3d>
          <a:sp3d>
            <a:bevelT/>
          </a:sp3d>
        </p:spPr>
        <p:style>
          <a:lnRef idx="2">
            <a:schemeClr val="accent6"/>
          </a:lnRef>
          <a:fillRef idx="1">
            <a:schemeClr val="lt1"/>
          </a:fillRef>
          <a:effectRef idx="0">
            <a:schemeClr val="accent6"/>
          </a:effectRef>
          <a:fontRef idx="minor">
            <a:schemeClr val="dk1"/>
          </a:fontRef>
        </p:style>
        <p:txBody>
          <a:bodyPr wrap="square" rtlCol="0">
            <a:spAutoFit/>
          </a:bodyPr>
          <a:lstStyle/>
          <a:p>
            <a:pPr marL="285750" indent="-285750" algn="just">
              <a:lnSpc>
                <a:spcPct val="150000"/>
              </a:lnSpc>
              <a:buFont typeface="Wingdings" panose="05000000000000000000" pitchFamily="2" charset="2"/>
              <a:buChar char="Ø"/>
            </a:pPr>
            <a:r>
              <a:rPr lang="en-US" i="1" dirty="0"/>
              <a:t>Is my donation tax deductible?</a:t>
            </a:r>
            <a:r>
              <a:rPr lang="en-US" dirty="0"/>
              <a:t> — [Add local/region tax guidance here if applicable.]</a:t>
            </a:r>
          </a:p>
          <a:p>
            <a:pPr marL="285750" indent="-285750" algn="just">
              <a:lnSpc>
                <a:spcPct val="150000"/>
              </a:lnSpc>
              <a:buFont typeface="Wingdings" panose="05000000000000000000" pitchFamily="2" charset="2"/>
              <a:buChar char="Ø"/>
            </a:pPr>
            <a:r>
              <a:rPr lang="en-US" i="1" dirty="0"/>
              <a:t>How do I get a receipt?</a:t>
            </a:r>
            <a:r>
              <a:rPr lang="en-US" dirty="0"/>
              <a:t> — After donating on </a:t>
            </a:r>
            <a:r>
              <a:rPr lang="en-US" dirty="0" err="1"/>
              <a:t>GoFundMe</a:t>
            </a:r>
            <a:r>
              <a:rPr lang="en-US" dirty="0"/>
              <a:t>, you’ll receive an automated email receipt. For receipts from OBF, email: [contact@obf.org</a:t>
            </a:r>
          </a:p>
          <a:p>
            <a:pPr marL="285750" indent="-285750" algn="just">
              <a:lnSpc>
                <a:spcPct val="150000"/>
              </a:lnSpc>
              <a:buFont typeface="Wingdings" panose="05000000000000000000" pitchFamily="2" charset="2"/>
              <a:buChar char="Ø"/>
            </a:pPr>
            <a:r>
              <a:rPr lang="en-US" i="1" dirty="0"/>
              <a:t>Can I support OBF in other ways?</a:t>
            </a:r>
            <a:r>
              <a:rPr lang="en-US" dirty="0"/>
              <a:t> — Yes — volunteer, sponsor a school visit, or partner with us. Contact: [contact@obf.org</a:t>
            </a:r>
            <a:endParaRPr lang="en-GB" sz="1600" dirty="0">
              <a:ea typeface="ADLaM Display" panose="020F0502020204030204" pitchFamily="2" charset="0"/>
              <a:cs typeface="Poppins" panose="00000500000000000000" pitchFamily="2" charset="0"/>
            </a:endParaRPr>
          </a:p>
        </p:txBody>
      </p:sp>
    </p:spTree>
    <p:extLst>
      <p:ext uri="{BB962C8B-B14F-4D97-AF65-F5344CB8AC3E}">
        <p14:creationId xmlns:p14="http://schemas.microsoft.com/office/powerpoint/2010/main" val="2458108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146" y="1285592"/>
            <a:ext cx="10515600" cy="2851841"/>
          </a:xfrm>
        </p:spPr>
        <p:txBody>
          <a:bodyPr>
            <a:noAutofit/>
          </a:bodyPr>
          <a:lstStyle/>
          <a:p>
            <a:pPr>
              <a:lnSpc>
                <a:spcPct val="150000"/>
              </a:lnSpc>
            </a:pPr>
            <a:r>
              <a:rPr lang="en-US" sz="2000" b="1" dirty="0"/>
              <a:t>Footer / Small print (for site bottom)</a:t>
            </a:r>
            <a:br>
              <a:rPr lang="en-US" sz="2000" b="1" dirty="0"/>
            </a:br>
            <a:r>
              <a:rPr lang="en-US" sz="2000" b="1" dirty="0"/>
              <a:t>Contact:</a:t>
            </a:r>
            <a:r>
              <a:rPr lang="en-US" sz="2000" dirty="0"/>
              <a:t> </a:t>
            </a:r>
            <a:r>
              <a:rPr lang="en-US" sz="2000" dirty="0">
                <a:hlinkClick r:id="rId2"/>
              </a:rPr>
              <a:t>info@obf.org</a:t>
            </a:r>
            <a:br>
              <a:rPr lang="en-US" sz="2000" dirty="0"/>
            </a:br>
            <a:r>
              <a:rPr lang="en-US" sz="2000" b="1" dirty="0"/>
              <a:t>Follow us:</a:t>
            </a:r>
            <a:r>
              <a:rPr lang="en-US" sz="2000" dirty="0"/>
              <a:t> [Facebook] [Twitter] [Instagram] (link placeholders)</a:t>
            </a:r>
            <a:br>
              <a:rPr lang="en-US" sz="2000" dirty="0"/>
            </a:br>
            <a:r>
              <a:rPr lang="en-US" sz="2000" b="1" dirty="0"/>
              <a:t>Legal:</a:t>
            </a:r>
            <a:r>
              <a:rPr lang="en-US" sz="2000" dirty="0"/>
              <a:t> Registered non-profit. [Registration number] (add if available). Privacy Policy | Terms of Use.</a:t>
            </a:r>
            <a:br>
              <a:rPr lang="en-US" sz="2000" dirty="0"/>
            </a:br>
            <a:r>
              <a:rPr lang="en-US" sz="2000" b="1" dirty="0"/>
              <a:t>Copyright line:</a:t>
            </a:r>
            <a:r>
              <a:rPr lang="en-US" sz="2000" dirty="0"/>
              <a:t> © 2025. </a:t>
            </a:r>
            <a:r>
              <a:rPr lang="en-US" sz="2000" dirty="0" err="1"/>
              <a:t>Olorunyomi</a:t>
            </a:r>
            <a:r>
              <a:rPr lang="en-US" sz="2000" dirty="0"/>
              <a:t> Babatunde Foundation. All rights reserved.</a:t>
            </a:r>
            <a:br>
              <a:rPr lang="en-US" sz="2000" dirty="0"/>
            </a:br>
            <a:endParaRPr lang="en-US" sz="2000" dirty="0"/>
          </a:p>
        </p:txBody>
      </p:sp>
    </p:spTree>
    <p:extLst>
      <p:ext uri="{BB962C8B-B14F-4D97-AF65-F5344CB8AC3E}">
        <p14:creationId xmlns:p14="http://schemas.microsoft.com/office/powerpoint/2010/main" val="1319249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481</Words>
  <Application>Microsoft Office PowerPoint</Application>
  <PresentationFormat>Widescreen</PresentationFormat>
  <Paragraphs>46</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About Us Olorunyomi Babatunde Foundation (OBF) The Olorunyomi Babatunde Foundation (OBF) is a non-profit organisation dedicated to promoting academic honesty and ethical leadership among adolescents and young people. We design and implement school outreach campaigns, community sensitisation programmes, and youth empowerment initiatives that reduce exam malpractice and open alternative, honourable pathways to success. OBF works with educators, parents, community and religious leaders to create lasting, systemic change in the culture of learning across communities.  Why we exist: Academic integrity is the bedrock of meaningful learning and social trust. When young people are supported to succeed through skill, perseverance and integrity, communities benefit from stronger leaders, entrepreneurs and citizens. OBF exists to shift mindsets, strengthen institutions, and support young people to thrive honestly. </vt:lpstr>
      <vt:lpstr>Our Goal  To end exam malpractice and foster a culture of integrity among Nigeria’s young people while providing them with the skills and support to pursue ethical success.  Three core aims  Change Mindsets: Sensitise schools and communities about the harms of exam malpractice and the value of academic honesty. Empower Youth: Deliver life-skills, leadership, and entrepreneurship training so students can pursue legitimate paths to success. Influence Systems: Work with educators, parents, and community leaders to strengthen policies and practices that support integrity in education.</vt:lpstr>
      <vt:lpstr>  Vision: A future where every young person pursues education and success with integrity, skill and dignity.  Mission: We promote academic honesty and equip young people with life skills, ethical leadership training and practical alternatives to dishonest academic practices. Through school outreach, stakeholder engagement and targeted programmes, we change mindsets, strengthen institutions, and open real pathways to personal and community development.</vt:lpstr>
      <vt:lpstr>  1. Promote academic honesty and integrity: Through sensitization campaigns, school outreach programmes and value-based education, we work to change mindsets and discourage exam malpractice among adolescents and young people. 2. Empower youth with skills and alternatives: We deliver life skills, ethical leadership training, and entrepreneurship support that reduce reliance on dishonest academic shortcuts and encourage responsible citizenship. 3. Engage stakeholders for systemic reform: We collaborate with educators, parents, religious and community leaders to strengthen ethical standards in educational institutions and support community-led integrity movements.</vt:lpstr>
      <vt:lpstr>OUR BOARD OF TRUSTEES</vt:lpstr>
      <vt:lpstr>PowerPoint Presentation</vt:lpstr>
      <vt:lpstr>PowerPoint Presentation</vt:lpstr>
      <vt:lpstr>PowerPoint Presentation</vt:lpstr>
      <vt:lpstr>PowerPoint Presentation</vt:lpstr>
      <vt:lpstr>PowerPoint Presentation</vt:lpstr>
      <vt:lpstr>PowerPoint Presentation</vt:lpstr>
      <vt:lpstr>OUR SUSTAINABLE DEVELOPMENT GOALS (SDGs)</vt:lpstr>
      <vt:lpstr>PowerPoint Presentation</vt:lpstr>
      <vt:lpstr>FAQs</vt:lpstr>
      <vt:lpstr>Footer / Small print (for site bottom) Contact: info@obf.org Follow us: [Facebook] [Twitter] [Instagram] (link placeholders) Legal: Registered non-profit. [Registration number] (add if available). Privacy Policy | Terms of Use. Copyright line: © 2025. Olorunyomi Babatunde Foundation. All rights reserved.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Us Olorunyomi Babatunde Foundation (OBF) The Olorunyomi Babatunde Foundation (OBF) is a non-profit organisation dedicated to promoting academic honesty and ethical leadership among adolescents and young people. We design and implement school outreach campaigns, community sensitisation programmes, and youth empowerment initiatives that reduce exam malpractice and open alternative, honourable pathways to success. OBF works with educators, parents, community and religious leaders to create lasting, systemic change in the culture of learning across communities.  Why we exist: Academic integrity is the bedrock of meaningful learning and social trust. When young people are supported to succeed through skill, perseverance and integrity, communities benefit from stronger leaders, entrepreneurs and citizens. OBF exists to shift mindsets, strengthen institutions, and support young people to thrive honestly.</dc:title>
  <dc:creator>hp</dc:creator>
  <cp:lastModifiedBy>Tolani Kadiri</cp:lastModifiedBy>
  <cp:revision>10</cp:revision>
  <dcterms:created xsi:type="dcterms:W3CDTF">2025-11-15T11:34:17Z</dcterms:created>
  <dcterms:modified xsi:type="dcterms:W3CDTF">2025-11-15T13:35:15Z</dcterms:modified>
</cp:coreProperties>
</file>